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inchxp.tech/request-demo" TargetMode="External"/><Relationship Id="rId3" Type="http://schemas.openxmlformats.org/officeDocument/2006/relationships/hyperlink" Target="mailto:hello@finchxp.com" TargetMode="External"/><Relationship Id="rId4" Type="http://schemas.openxmlformats.org/officeDocument/2006/relationships/hyperlink" Target="https://finchxp.tech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29184"/>
            <a:ext cx="146304" cy="146304"/>
          </a:xfrm>
          <a:prstGeom prst="rect">
            <a:avLst/>
          </a:prstGeom>
          <a:solidFill>
            <a:srgbClr val="F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Finch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274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563"/>
                </a:solidFill>
                <a:latin typeface="Courier New"/>
                <a:ea typeface="Courier New"/>
                <a:cs typeface="Courier New"/>
              </a:rPr>
              <a:t>COMPANY PITCH  ·  SYDNEY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TRANSACTION DATA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Raw transactions,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05A47"/>
                </a:solidFill>
                <a:latin typeface="Arial"/>
                <a:ea typeface="Arial"/>
                <a:cs typeface="Arial"/>
              </a:rPr>
              <a:t>read like a merchant.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Understood like a customer.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60520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Finch turns cryptic bank feed strings into clean merchant identity, category, location and behaviour — enriching every transaction for Australia’s banks, fintechs and retailers in real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212080"/>
            <a:ext cx="6766560" cy="13716"/>
          </a:xfrm>
          <a:prstGeom prst="rect">
            <a:avLst/>
          </a:prstGeom>
          <a:solidFill>
            <a:srgbClr val="D8D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394960"/>
            <a:ext cx="201168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4.2B+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85216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B5563"/>
                </a:solidFill>
                <a:latin typeface="Courier New"/>
                <a:ea typeface="Courier New"/>
                <a:cs typeface="Courier New"/>
              </a:rPr>
              <a:t>TRANSACTIONS ENRICHED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394960"/>
            <a:ext cx="201168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585216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B5563"/>
                </a:solidFill>
                <a:latin typeface="Courier New"/>
                <a:ea typeface="Courier New"/>
                <a:cs typeface="Courier New"/>
              </a:rPr>
              <a:t>MERCHANT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5394960"/>
            <a:ext cx="201168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42ms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585216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B5563"/>
                </a:solidFill>
                <a:latin typeface="Courier New"/>
                <a:ea typeface="Courier New"/>
                <a:cs typeface="Courier New"/>
              </a:rPr>
              <a:t>P95 LATENCY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84848"/>
            <a:ext cx="937822" cy="73152"/>
          </a:xfrm>
          <a:prstGeom prst="rect">
            <a:avLst/>
          </a:prstGeom>
          <a:solidFill>
            <a:srgbClr val="F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7822" y="6784848"/>
            <a:ext cx="11253872" cy="73152"/>
          </a:xfrm>
          <a:prstGeom prst="rect">
            <a:avLst/>
          </a:prstGeom>
          <a:solidFill>
            <a:srgbClr val="D8D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29184"/>
            <a:ext cx="146304" cy="146304"/>
          </a:xfrm>
          <a:prstGeom prst="rect">
            <a:avLst/>
          </a:prstGeom>
          <a:solidFill>
            <a:srgbClr val="F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Finch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274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563"/>
                </a:solidFill>
                <a:latin typeface="Courier New"/>
                <a:ea typeface="Courier New"/>
                <a:cs typeface="Courier New"/>
              </a:rPr>
              <a:t>THE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100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4754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Australian bank feeds still speak in codes. </a:t>
            </a:r>
            <a:r>
              <a:rPr sz="1800" b="1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SQ *GRN MRKT SYD</a:t>
            </a:r>
            <a:r>
              <a:rPr sz="22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is a grocer in Sydney, but the line does not say so. Customers cannot explain their money. Credit models inherit the noise. Retailers cannot see who was paid.</a:t>
            </a:r>
          </a:p>
          <a:p>
            <a:pPr algn="l">
              <a:spcBef>
                <a:spcPts val="1600"/>
              </a:spcBef>
              <a:spcAft>
                <a:spcPts val="0"/>
              </a:spcAft>
            </a:pPr>
            <a:r>
              <a:rPr sz="22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Finch, in Sydney, reads every transaction the way a person would. In under fifty milliseconds a raw string becomes a merchant, a category, a place and a behaviour. One API then powers wellness, affordability, rewards and a live view of the market.</a:t>
            </a:r>
          </a:p>
          <a:p>
            <a:pPr algn="l">
              <a:spcBef>
                <a:spcPts val="1600"/>
              </a:spcBef>
              <a:spcAft>
                <a:spcPts val="0"/>
              </a:spcAft>
            </a:pPr>
            <a:r>
              <a:rPr sz="22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same primitives. Human review beside the models. 4.2 billion transactions already enriched. The feed, finally, makes sense.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636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B5563"/>
                </a:solidFill>
                <a:latin typeface="Courier New"/>
                <a:ea typeface="Courier New"/>
                <a:cs typeface="Courier New"/>
              </a:rPr>
              <a:t>99 WORDS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875645" cy="73152"/>
          </a:xfrm>
          <a:prstGeom prst="rect">
            <a:avLst/>
          </a:prstGeom>
          <a:solidFill>
            <a:srgbClr val="F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75645" y="6784848"/>
            <a:ext cx="10316049" cy="73152"/>
          </a:xfrm>
          <a:prstGeom prst="rect">
            <a:avLst/>
          </a:prstGeom>
          <a:solidFill>
            <a:srgbClr val="D8D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29184"/>
            <a:ext cx="146304" cy="146304"/>
          </a:xfrm>
          <a:prstGeom prst="rect">
            <a:avLst/>
          </a:prstGeom>
          <a:solidFill>
            <a:srgbClr val="F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Finch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274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563"/>
                </a:solidFill>
                <a:latin typeface="Courier New"/>
                <a:ea typeface="Courier New"/>
                <a:cs typeface="Courier New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Bank feeds were written for switches, not people.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5349240" cy="443484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76272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68C"/>
                </a:solidFill>
                <a:latin typeface="Courier New"/>
                <a:ea typeface="Courier New"/>
                <a:cs typeface="Courier New"/>
              </a:rPr>
              <a:t>RAW  ·  BANK FEED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762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68C"/>
                </a:solidFill>
                <a:latin typeface="Courier New"/>
                <a:ea typeface="Courier New"/>
                <a:cs typeface="Courier New"/>
              </a:rPr>
              <a:t>AUD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578608"/>
            <a:ext cx="4937760" cy="9144"/>
          </a:xfrm>
          <a:prstGeom prst="rect">
            <a:avLst/>
          </a:prstGeom>
          <a:solidFill>
            <a:srgbClr val="2A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651760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3ED"/>
                </a:solidFill>
                <a:latin typeface="Courier New"/>
                <a:ea typeface="Courier New"/>
                <a:cs typeface="Courier New"/>
              </a:rPr>
              <a:t>SQ *GRN MRKT SYD 0426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651760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68C"/>
                </a:solidFill>
                <a:latin typeface="Courier New"/>
                <a:ea typeface="Courier New"/>
                <a:cs typeface="Courier New"/>
              </a:rPr>
              <a:t>card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3163824"/>
            <a:ext cx="4937760" cy="9144"/>
          </a:xfrm>
          <a:prstGeom prst="rect">
            <a:avLst/>
          </a:prstGeom>
          <a:solidFill>
            <a:srgbClr val="2A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236976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3ED"/>
                </a:solidFill>
                <a:latin typeface="Courier New"/>
                <a:ea typeface="Courier New"/>
                <a:cs typeface="Courier New"/>
              </a:rPr>
              <a:t>UBER *TRIP HELP.UBER.COM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236976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68C"/>
                </a:solidFill>
                <a:latin typeface="Courier New"/>
                <a:ea typeface="Courier New"/>
                <a:cs typeface="Courier New"/>
              </a:rPr>
              <a:t>card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3749039"/>
            <a:ext cx="4937760" cy="9144"/>
          </a:xfrm>
          <a:prstGeom prst="rect">
            <a:avLst/>
          </a:prstGeom>
          <a:solidFill>
            <a:srgbClr val="2A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822191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3ED"/>
                </a:solidFill>
                <a:latin typeface="Courier New"/>
                <a:ea typeface="Courier New"/>
                <a:cs typeface="Courier New"/>
              </a:rPr>
              <a:t>TFR AMZN AU 44118X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822191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68C"/>
                </a:solidFill>
                <a:latin typeface="Courier New"/>
                <a:ea typeface="Courier New"/>
                <a:cs typeface="Courier New"/>
              </a:rPr>
              <a:t>transfer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4334256"/>
            <a:ext cx="4937760" cy="9144"/>
          </a:xfrm>
          <a:prstGeom prst="rect">
            <a:avLst/>
          </a:prstGeom>
          <a:solidFill>
            <a:srgbClr val="2A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407408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3ED"/>
                </a:solidFill>
                <a:latin typeface="Courier New"/>
                <a:ea typeface="Courier New"/>
                <a:cs typeface="Courier New"/>
              </a:rPr>
              <a:t>POS SUSHI HUB CBD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407408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68C"/>
                </a:solidFill>
                <a:latin typeface="Courier New"/>
                <a:ea typeface="Courier New"/>
                <a:cs typeface="Courier New"/>
              </a:rPr>
              <a:t>point of sale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4919472"/>
            <a:ext cx="4937760" cy="9144"/>
          </a:xfrm>
          <a:prstGeom prst="rect">
            <a:avLst/>
          </a:prstGeom>
          <a:solidFill>
            <a:srgbClr val="2A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992624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3ED"/>
                </a:solidFill>
                <a:latin typeface="Courier New"/>
                <a:ea typeface="Courier New"/>
                <a:cs typeface="Courier New"/>
              </a:rPr>
              <a:t>WWW NETFLIX.COM 899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992624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68C"/>
                </a:solidFill>
                <a:latin typeface="Courier New"/>
                <a:ea typeface="Courier New"/>
                <a:cs typeface="Courier New"/>
              </a:rPr>
              <a:t>recurring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5504688"/>
            <a:ext cx="4937760" cy="9144"/>
          </a:xfrm>
          <a:prstGeom prst="rect">
            <a:avLst/>
          </a:prstGeom>
          <a:solidFill>
            <a:srgbClr val="2A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5577840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3ED"/>
                </a:solidFill>
                <a:latin typeface="Courier New"/>
                <a:ea typeface="Courier New"/>
                <a:cs typeface="Courier New"/>
              </a:rPr>
              <a:t>DD ORIGIN ENERGY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5577840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68C"/>
                </a:solidFill>
                <a:latin typeface="Courier New"/>
                <a:ea typeface="Courier New"/>
                <a:cs typeface="Courier New"/>
              </a:rPr>
              <a:t>direct debit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2011680"/>
            <a:ext cx="5532120" cy="1371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210312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234086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Customers can’t see their own money.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274320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A truncated merchant string is not a brand, a category, or a place. Wellness features stall on lines nobody can explain.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3493008"/>
            <a:ext cx="5532120" cy="1371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358444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382219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Credit decisions inherit the noise.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4224528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Income, bills, subscriptions and affordability are in the history — locked inside descriptions built for settlement, not underwriting.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4974336"/>
            <a:ext cx="5532120" cy="1371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5065776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5303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market stays invisible.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5705856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Without a clean merchant, retailers and rewards teams cannot see share of wallet, cohorts, or where spend is actually moving.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84848"/>
            <a:ext cx="2813468" cy="73152"/>
          </a:xfrm>
          <a:prstGeom prst="rect">
            <a:avLst/>
          </a:prstGeom>
          <a:solidFill>
            <a:srgbClr val="F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813468" y="6784848"/>
            <a:ext cx="9378227" cy="73152"/>
          </a:xfrm>
          <a:prstGeom prst="rect">
            <a:avLst/>
          </a:prstGeom>
          <a:solidFill>
            <a:srgbClr val="D8D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29184"/>
            <a:ext cx="146304" cy="146304"/>
          </a:xfrm>
          <a:prstGeom prst="rect">
            <a:avLst/>
          </a:prstGeom>
          <a:solidFill>
            <a:srgbClr val="F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Finch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274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563"/>
                </a:solidFill>
                <a:latin typeface="Courier New"/>
                <a:ea typeface="Courier New"/>
                <a:cs typeface="Courier New"/>
              </a:rPr>
              <a:t>TRANSACTION INTELLIGENCE ENGINE  · 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02  —  ENRICHMENT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65836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same line, read the way a customer would.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051560"/>
            <a:ext cx="43891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Clean merchant identity, category, location and behaviour attached to every card, direct debit and transfer description — including truncated Australian feeds.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48840"/>
            <a:ext cx="11201400" cy="1371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063240"/>
            <a:ext cx="11201400" cy="10972"/>
          </a:xfrm>
          <a:prstGeom prst="rect">
            <a:avLst/>
          </a:prstGeom>
          <a:solidFill>
            <a:srgbClr val="D8D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86584"/>
            <a:ext cx="3246120" cy="502920"/>
          </a:xfrm>
          <a:prstGeom prst="rect">
            <a:avLst/>
          </a:prstGeom>
          <a:solidFill>
            <a:srgbClr val="EF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386584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B5563"/>
                </a:solidFill>
                <a:latin typeface="Courier New"/>
                <a:ea typeface="Courier New"/>
                <a:cs typeface="Courier New"/>
              </a:rPr>
              <a:t>SQ *GRN MRKT SYD 0426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350008"/>
            <a:ext cx="36576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05A4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313432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Green 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660904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Groceries  ·  Sydney  ·  Weekly recurring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95560" y="2441448"/>
            <a:ext cx="1051560" cy="384048"/>
          </a:xfrm>
          <a:prstGeom prst="rect">
            <a:avLst/>
          </a:prstGeom>
          <a:solidFill>
            <a:srgbClr val="E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95560" y="2441448"/>
            <a:ext cx="105156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D57"/>
                </a:solidFill>
                <a:latin typeface="Courier New"/>
                <a:ea typeface="Courier New"/>
                <a:cs typeface="Courier New"/>
              </a:rPr>
              <a:t>96%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77640"/>
            <a:ext cx="11201400" cy="10972"/>
          </a:xfrm>
          <a:prstGeom prst="rect">
            <a:avLst/>
          </a:prstGeom>
          <a:solidFill>
            <a:srgbClr val="D8D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300984"/>
            <a:ext cx="3246120" cy="502920"/>
          </a:xfrm>
          <a:prstGeom prst="rect">
            <a:avLst/>
          </a:prstGeom>
          <a:solidFill>
            <a:srgbClr val="EF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300984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B5563"/>
                </a:solidFill>
                <a:latin typeface="Courier New"/>
                <a:ea typeface="Courier New"/>
                <a:cs typeface="Courier New"/>
              </a:rPr>
              <a:t>UBER *TRIP HELP.UBER.COM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264408"/>
            <a:ext cx="36576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05A4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227832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575304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Transport  ·  Melbourne  ·  Recurring behaviour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95560" y="3355848"/>
            <a:ext cx="1051560" cy="384048"/>
          </a:xfrm>
          <a:prstGeom prst="rect">
            <a:avLst/>
          </a:prstGeom>
          <a:solidFill>
            <a:srgbClr val="E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95560" y="3355848"/>
            <a:ext cx="105156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D57"/>
                </a:solidFill>
                <a:latin typeface="Courier New"/>
                <a:ea typeface="Courier New"/>
                <a:cs typeface="Courier New"/>
              </a:rPr>
              <a:t>98%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892040"/>
            <a:ext cx="11201400" cy="10972"/>
          </a:xfrm>
          <a:prstGeom prst="rect">
            <a:avLst/>
          </a:prstGeom>
          <a:solidFill>
            <a:srgbClr val="D8D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215384"/>
            <a:ext cx="3246120" cy="502920"/>
          </a:xfrm>
          <a:prstGeom prst="rect">
            <a:avLst/>
          </a:prstGeom>
          <a:solidFill>
            <a:srgbClr val="EF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4215384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B5563"/>
                </a:solidFill>
                <a:latin typeface="Courier New"/>
                <a:ea typeface="Courier New"/>
                <a:cs typeface="Courier New"/>
              </a:rPr>
              <a:t>TFR AMZN AU 44118X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4178808"/>
            <a:ext cx="36576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05A4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142232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Amazon AU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489704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Retail  ·  Online  ·  Subscription detected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95560" y="4270248"/>
            <a:ext cx="1051560" cy="384048"/>
          </a:xfrm>
          <a:prstGeom prst="rect">
            <a:avLst/>
          </a:prstGeom>
          <a:solidFill>
            <a:srgbClr val="E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95560" y="4270248"/>
            <a:ext cx="105156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D57"/>
                </a:solidFill>
                <a:latin typeface="Courier New"/>
                <a:ea typeface="Courier New"/>
                <a:cs typeface="Courier New"/>
              </a:rPr>
              <a:t>94%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806440"/>
            <a:ext cx="11201400" cy="10972"/>
          </a:xfrm>
          <a:prstGeom prst="rect">
            <a:avLst/>
          </a:prstGeom>
          <a:solidFill>
            <a:srgbClr val="D8D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5129784"/>
            <a:ext cx="3246120" cy="502920"/>
          </a:xfrm>
          <a:prstGeom prst="rect">
            <a:avLst/>
          </a:prstGeom>
          <a:solidFill>
            <a:srgbClr val="EF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5129784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B5563"/>
                </a:solidFill>
                <a:latin typeface="Courier New"/>
                <a:ea typeface="Courier New"/>
                <a:cs typeface="Courier New"/>
              </a:rPr>
              <a:t>POS SUSHI HUB CBD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5093208"/>
            <a:ext cx="36576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05A4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5056632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Sushi Hub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5404104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Dining  ·  Sydney CBD  ·  New merchant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95560" y="5184648"/>
            <a:ext cx="1051560" cy="384048"/>
          </a:xfrm>
          <a:prstGeom prst="rect">
            <a:avLst/>
          </a:prstGeom>
          <a:solidFill>
            <a:srgbClr val="E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95560" y="5184648"/>
            <a:ext cx="105156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D57"/>
                </a:solidFill>
                <a:latin typeface="Courier New"/>
                <a:ea typeface="Courier New"/>
                <a:cs typeface="Courier New"/>
              </a:rPr>
              <a:t>91%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035040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563"/>
                </a:solidFill>
                <a:latin typeface="Courier New"/>
                <a:ea typeface="Courier New"/>
                <a:cs typeface="Courier New"/>
              </a:rPr>
              <a:t>WORKED EXAMPLE FROM THE FINCH PLATFORM   ·   4 / 4 MERCHANTS MATCHED   ·   94.8% AVG CONFIDENCE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784848"/>
            <a:ext cx="3751290" cy="73152"/>
          </a:xfrm>
          <a:prstGeom prst="rect">
            <a:avLst/>
          </a:prstGeom>
          <a:solidFill>
            <a:srgbClr val="F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751290" y="6784848"/>
            <a:ext cx="8440404" cy="73152"/>
          </a:xfrm>
          <a:prstGeom prst="rect">
            <a:avLst/>
          </a:prstGeom>
          <a:solidFill>
            <a:srgbClr val="D8D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29184"/>
            <a:ext cx="146304" cy="146304"/>
          </a:xfrm>
          <a:prstGeom prst="rect">
            <a:avLst/>
          </a:prstGeom>
          <a:solidFill>
            <a:srgbClr val="F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3ED"/>
                </a:solidFill>
                <a:latin typeface="Arial"/>
                <a:ea typeface="Arial"/>
                <a:cs typeface="Arial"/>
              </a:rPr>
              <a:t>Finch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274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68C"/>
                </a:solidFill>
                <a:latin typeface="Courier New"/>
                <a:ea typeface="Courier New"/>
                <a:cs typeface="Courier New"/>
              </a:rPr>
              <a:t>REAL-TIME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03  —  UNDER FIFTY MILLISECONDS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676656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5F3ED"/>
                </a:solidFill>
                <a:latin typeface="Arial"/>
                <a:ea typeface="Arial"/>
                <a:cs typeface="Arial"/>
              </a:rPr>
              <a:t>One transaction. Five stages.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097280"/>
            <a:ext cx="420624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8C4BA"/>
                </a:solidFill>
                <a:latin typeface="Arial"/>
                <a:ea typeface="Arial"/>
                <a:cs typeface="Arial"/>
              </a:rPr>
              <a:t>Every line through the Finch API is matched, categorised, read for behaviour, and written into aggregated market intelligence.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2194560" cy="3977639"/>
          </a:xfrm>
          <a:prstGeom prst="rect">
            <a:avLst/>
          </a:prstGeom>
          <a:solidFill>
            <a:srgbClr val="171B22"/>
          </a:solidFill>
          <a:ln w="12700">
            <a:solidFill>
              <a:srgbClr val="2A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2523744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T+0ms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926080"/>
            <a:ext cx="1938528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3ED"/>
                </a:solidFill>
                <a:latin typeface="Arial"/>
                <a:ea typeface="Arial"/>
                <a:cs typeface="Arial"/>
              </a:rPr>
              <a:t>Raw feed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611880"/>
            <a:ext cx="1938528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4BA"/>
                </a:solidFill>
                <a:latin typeface="Arial"/>
                <a:ea typeface="Arial"/>
                <a:cs typeface="Arial"/>
              </a:rPr>
              <a:t>The bank line arrives, still cryptic.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5029200"/>
            <a:ext cx="1938528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E0D0"/>
                </a:solidFill>
                <a:latin typeface="Courier New"/>
                <a:ea typeface="Courier New"/>
                <a:cs typeface="Courier New"/>
              </a:rPr>
              <a:t>SQ *GRN MRKT SYD 0426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79776" y="2377440"/>
            <a:ext cx="2194560" cy="3977639"/>
          </a:xfrm>
          <a:prstGeom prst="rect">
            <a:avLst/>
          </a:prstGeom>
          <a:solidFill>
            <a:srgbClr val="171B22"/>
          </a:solidFill>
          <a:ln w="12700">
            <a:solidFill>
              <a:srgbClr val="2A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07792" y="2523744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T+18ms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2" y="2926080"/>
            <a:ext cx="1938528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3ED"/>
                </a:solidFill>
                <a:latin typeface="Arial"/>
                <a:ea typeface="Arial"/>
                <a:cs typeface="Arial"/>
              </a:rPr>
              <a:t>Merchant 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2" y="3611880"/>
            <a:ext cx="1938528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4BA"/>
                </a:solidFill>
                <a:latin typeface="Arial"/>
                <a:ea typeface="Arial"/>
                <a:cs typeface="Arial"/>
              </a:rPr>
              <a:t>Identity resolved against the merchant graph.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5029200"/>
            <a:ext cx="1938528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E0D0"/>
                </a:solidFill>
                <a:latin typeface="Courier New"/>
                <a:ea typeface="Courier New"/>
                <a:cs typeface="Courier New"/>
              </a:rPr>
              <a:t>Green Market
greenmarket.com.au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02352" y="2377440"/>
            <a:ext cx="2194560" cy="3977639"/>
          </a:xfrm>
          <a:prstGeom prst="rect">
            <a:avLst/>
          </a:prstGeom>
          <a:solidFill>
            <a:srgbClr val="171B22"/>
          </a:solidFill>
          <a:ln w="12700">
            <a:solidFill>
              <a:srgbClr val="2A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0368" y="2523744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T+27ms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2926080"/>
            <a:ext cx="1938528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3ED"/>
                </a:solidFill>
                <a:latin typeface="Arial"/>
                <a:ea typeface="Arial"/>
                <a:cs typeface="Arial"/>
              </a:rPr>
              <a:t>Categorisation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3611880"/>
            <a:ext cx="1938528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4BA"/>
                </a:solidFill>
                <a:latin typeface="Arial"/>
                <a:ea typeface="Arial"/>
                <a:cs typeface="Arial"/>
              </a:rPr>
              <a:t>Category, cadence and place assigned.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5029200"/>
            <a:ext cx="1938528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E0D0"/>
                </a:solidFill>
                <a:latin typeface="Courier New"/>
                <a:ea typeface="Courier New"/>
                <a:cs typeface="Courier New"/>
              </a:rPr>
              <a:t>Groceries · Recurring · Weekly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24928" y="2377440"/>
            <a:ext cx="2194560" cy="3977639"/>
          </a:xfrm>
          <a:prstGeom prst="rect">
            <a:avLst/>
          </a:prstGeom>
          <a:solidFill>
            <a:srgbClr val="171B22"/>
          </a:solidFill>
          <a:ln w="12700">
            <a:solidFill>
              <a:srgbClr val="2A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52944" y="2523744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T+34ms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944" y="2926080"/>
            <a:ext cx="1938528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3ED"/>
                </a:solidFill>
                <a:latin typeface="Arial"/>
                <a:ea typeface="Arial"/>
                <a:cs typeface="Arial"/>
              </a:rPr>
              <a:t>Behaviour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2944" y="3611880"/>
            <a:ext cx="1938528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4BA"/>
                </a:solidFill>
                <a:latin typeface="Arial"/>
                <a:ea typeface="Arial"/>
                <a:cs typeface="Arial"/>
              </a:rPr>
              <a:t>Signals pulled from the customer’s history.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2944" y="5029200"/>
            <a:ext cx="1938528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E0D0"/>
                </a:solidFill>
                <a:latin typeface="Courier New"/>
                <a:ea typeface="Courier New"/>
                <a:cs typeface="Courier New"/>
              </a:rPr>
              <a:t>Weekly spend +8% vs 4wk avg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47504" y="2377440"/>
            <a:ext cx="2194560" cy="3977639"/>
          </a:xfrm>
          <a:prstGeom prst="rect">
            <a:avLst/>
          </a:prstGeom>
          <a:solidFill>
            <a:srgbClr val="171B22"/>
          </a:solidFill>
          <a:ln w="12700">
            <a:solidFill>
              <a:srgbClr val="2A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0" y="2523744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T+42ms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2926080"/>
            <a:ext cx="1938528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3ED"/>
                </a:solidFill>
                <a:latin typeface="Arial"/>
                <a:ea typeface="Arial"/>
                <a:cs typeface="Arial"/>
              </a:rPr>
              <a:t>Intelligence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611880"/>
            <a:ext cx="1938528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4BA"/>
                </a:solidFill>
                <a:latin typeface="Arial"/>
                <a:ea typeface="Arial"/>
                <a:cs typeface="Arial"/>
              </a:rPr>
              <a:t>The segment updates for the network.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5029200"/>
            <a:ext cx="1938528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E0D0"/>
                </a:solidFill>
                <a:latin typeface="Courier New"/>
                <a:ea typeface="Courier New"/>
                <a:cs typeface="Courier New"/>
              </a:rPr>
              <a:t>Health-conscious grocery segment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4848"/>
            <a:ext cx="4689113" cy="73152"/>
          </a:xfrm>
          <a:prstGeom prst="rect">
            <a:avLst/>
          </a:prstGeom>
          <a:solidFill>
            <a:srgbClr val="F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89113" y="6784848"/>
            <a:ext cx="7502581" cy="73152"/>
          </a:xfrm>
          <a:prstGeom prst="rect">
            <a:avLst/>
          </a:prstGeom>
          <a:solidFill>
            <a:srgbClr val="2A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29184"/>
            <a:ext cx="146304" cy="146304"/>
          </a:xfrm>
          <a:prstGeom prst="rect">
            <a:avLst/>
          </a:prstGeom>
          <a:solidFill>
            <a:srgbClr val="F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Finch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274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563"/>
                </a:solidFill>
                <a:latin typeface="Courier New"/>
                <a:ea typeface="Courier New"/>
                <a:cs typeface="Courier New"/>
              </a:rPr>
              <a:t>POST /V1/TRANSACTIONS/ENRICH  ·  REST  ·  AU-HOSTED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04  —  THE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One API. Three intelligence layers.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051560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A single integration scales from a merchant lookup to a full behavioural layer. Each product uses the same primitives and can be adopted on its own.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3703320" cy="416052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35915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01  ·  ENRICHMENT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743200"/>
            <a:ext cx="329184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Turn a bank string into a merchant.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794760"/>
            <a:ext cx="329184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Identity, category, location, logo and behaviour across Australian and global card, debit and transfer descriptions.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212080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Merchant name   Category   Location   Logo &amp; website   Recurring   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2194560"/>
            <a:ext cx="3703320" cy="416052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35915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02  ·  ANALYTICS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743200"/>
            <a:ext cx="329184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Understand how a customer spends.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3794760"/>
            <a:ext cx="329184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Enriched history becomes income, bills, subscriptions, discretionary versus essential spend, and affordability.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5212080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Income   Bills   Subscriptions   Fee saver   Cash-flow   Affordability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74736" y="2194560"/>
            <a:ext cx="3703320" cy="416052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235915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03  ·  INTELLIGENCE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743200"/>
            <a:ext cx="329184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See markets and merchants move.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3794760"/>
            <a:ext cx="329184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Privacy-preserved signals across the Finch network — category, region, share of wallet and cohort behaviour as a feed.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5212080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Spend   Retail share   Merchants   Benchmarks   Geography   Alerts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84848"/>
            <a:ext cx="5626936" cy="73152"/>
          </a:xfrm>
          <a:prstGeom prst="rect">
            <a:avLst/>
          </a:prstGeom>
          <a:solidFill>
            <a:srgbClr val="F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26936" y="6784848"/>
            <a:ext cx="6564758" cy="73152"/>
          </a:xfrm>
          <a:prstGeom prst="rect">
            <a:avLst/>
          </a:prstGeom>
          <a:solidFill>
            <a:srgbClr val="D8D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29184"/>
            <a:ext cx="146304" cy="146304"/>
          </a:xfrm>
          <a:prstGeom prst="rect">
            <a:avLst/>
          </a:prstGeom>
          <a:solidFill>
            <a:srgbClr val="F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Finch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274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563"/>
                </a:solidFill>
                <a:latin typeface="Courier New"/>
                <a:ea typeface="Courier New"/>
                <a:cs typeface="Courier New"/>
              </a:rPr>
              <a:t>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694944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Built for the problems Australian financial teams actually have.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05156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Every solution sits on the same enrichment and analytics primitives — a money feature and a credit decision share one underlying dataset.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48840"/>
            <a:ext cx="11201400" cy="1371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200400"/>
            <a:ext cx="11201400" cy="10972"/>
          </a:xfrm>
          <a:prstGeom prst="rect">
            <a:avLst/>
          </a:prstGeom>
          <a:solidFill>
            <a:srgbClr val="D8D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0487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368296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Financial wellness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350008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Customers can’t see or explain their own money. Finch returns cash-flow, bills and subscriptions.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350008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7A73"/>
                </a:solidFill>
                <a:latin typeface="Arial"/>
                <a:ea typeface="Arial"/>
                <a:cs typeface="Arial"/>
              </a:rPr>
              <a:t>+27% engagement in customer money features.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251960"/>
            <a:ext cx="11201400" cy="10972"/>
          </a:xfrm>
          <a:prstGeom prst="rect">
            <a:avLst/>
          </a:prstGeom>
          <a:solidFill>
            <a:srgbClr val="D8D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45643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419856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Affordability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401568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Underwriting still leans on outdated income snapshots. Finch verifies income and expenditure from live transactions.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401568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7A73"/>
                </a:solidFill>
                <a:latin typeface="Arial"/>
                <a:ea typeface="Arial"/>
                <a:cs typeface="Arial"/>
              </a:rPr>
              <a:t>Faster credit decisions with lower default rates.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303520"/>
            <a:ext cx="11201400" cy="10972"/>
          </a:xfrm>
          <a:prstGeom prst="rect">
            <a:avLst/>
          </a:prstGeom>
          <a:solidFill>
            <a:srgbClr val="D8D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50799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71416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Rewards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453128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Generic rewards miss real behaviour. Offers key off identified merchants and category patterns.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453128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7A73"/>
                </a:solidFill>
                <a:latin typeface="Arial"/>
                <a:ea typeface="Arial"/>
                <a:cs typeface="Arial"/>
              </a:rPr>
              <a:t>Higher activation and repeat redemption.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355080"/>
            <a:ext cx="11201400" cy="10972"/>
          </a:xfrm>
          <a:prstGeom prst="rect">
            <a:avLst/>
          </a:prstGeom>
          <a:solidFill>
            <a:srgbClr val="D8D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5595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522976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Retail 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5504688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Retail teams lack a live view of the Australian consumer. Benchmarks arrive by category, region and merchant.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5504688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7A73"/>
                </a:solidFill>
                <a:latin typeface="Arial"/>
                <a:ea typeface="Arial"/>
                <a:cs typeface="Arial"/>
              </a:rPr>
              <a:t>Sharper merchandising, pricing and expansion.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84848"/>
            <a:ext cx="6564758" cy="73152"/>
          </a:xfrm>
          <a:prstGeom prst="rect">
            <a:avLst/>
          </a:prstGeom>
          <a:solidFill>
            <a:srgbClr val="F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64758" y="6784848"/>
            <a:ext cx="5626936" cy="73152"/>
          </a:xfrm>
          <a:prstGeom prst="rect">
            <a:avLst/>
          </a:prstGeom>
          <a:solidFill>
            <a:srgbClr val="D8D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29184"/>
            <a:ext cx="146304" cy="146304"/>
          </a:xfrm>
          <a:prstGeom prst="rect">
            <a:avLst/>
          </a:prstGeom>
          <a:solidFill>
            <a:srgbClr val="F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Finch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274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563"/>
                </a:solidFill>
                <a:latin typeface="Courier New"/>
                <a:ea typeface="Courier New"/>
                <a:cs typeface="Courier New"/>
              </a:rPr>
              <a:t>OPEN BANKING  · 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open banking intelligence layer, held to a bank standard.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CONSUMER DATA RIGHT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1488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827"/>
                </a:solidFill>
                <a:latin typeface="Courier New"/>
                <a:ea typeface="Courier New"/>
                <a:cs typeface="Courier New"/>
              </a:rPr>
              <a:t>CONTROLS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560320"/>
            <a:ext cx="5394960" cy="10972"/>
          </a:xfrm>
          <a:prstGeom prst="rect">
            <a:avLst/>
          </a:prstGeom>
          <a:solidFill>
            <a:srgbClr val="D8D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7960" y="2560320"/>
            <a:ext cx="5120640" cy="10972"/>
          </a:xfrm>
          <a:prstGeom prst="rect">
            <a:avLst/>
          </a:prstGeom>
          <a:solidFill>
            <a:srgbClr val="D8D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706624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Accreditation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70662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CDR-aligned 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706624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 transit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70662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TLS 1.3 on every endpoint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5394960" cy="10972"/>
          </a:xfrm>
          <a:prstGeom prst="rect">
            <a:avLst/>
          </a:prstGeom>
          <a:solidFill>
            <a:srgbClr val="D8D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3429000"/>
            <a:ext cx="5120640" cy="10972"/>
          </a:xfrm>
          <a:prstGeom prst="rect">
            <a:avLst/>
          </a:prstGeom>
          <a:solidFill>
            <a:srgbClr val="D8D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575304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Consent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57530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Fine-grained and revocable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575304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At 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57530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AES-256 for stored datasets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297679"/>
            <a:ext cx="5394960" cy="10972"/>
          </a:xfrm>
          <a:prstGeom prst="rect">
            <a:avLst/>
          </a:prstGeom>
          <a:solidFill>
            <a:srgbClr val="D8D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37960" y="4297679"/>
            <a:ext cx="5120640" cy="10972"/>
          </a:xfrm>
          <a:prstGeom prst="rect">
            <a:avLst/>
          </a:prstGeom>
          <a:solidFill>
            <a:srgbClr val="D8D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443983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Recipients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443983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ADI, ADR and trusted partners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443983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443983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Role-based permissions, immutable audit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166359"/>
            <a:ext cx="5394960" cy="10972"/>
          </a:xfrm>
          <a:prstGeom prst="rect">
            <a:avLst/>
          </a:prstGeom>
          <a:solidFill>
            <a:srgbClr val="D8D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37960" y="5166359"/>
            <a:ext cx="5120640" cy="10972"/>
          </a:xfrm>
          <a:prstGeom prst="rect">
            <a:avLst/>
          </a:prstGeom>
          <a:solidFill>
            <a:srgbClr val="D8D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312664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531266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Data minimisation, purpose-bound 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312664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Residency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531266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Australian regions  ·  99.99% SLA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4848"/>
            <a:ext cx="7502581" cy="73152"/>
          </a:xfrm>
          <a:prstGeom prst="rect">
            <a:avLst/>
          </a:prstGeom>
          <a:solidFill>
            <a:srgbClr val="F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502581" y="6784848"/>
            <a:ext cx="4689113" cy="73152"/>
          </a:xfrm>
          <a:prstGeom prst="rect">
            <a:avLst/>
          </a:prstGeom>
          <a:solidFill>
            <a:srgbClr val="D8D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29184"/>
            <a:ext cx="146304" cy="146304"/>
          </a:xfrm>
          <a:prstGeom prst="rect">
            <a:avLst/>
          </a:prstGeom>
          <a:solidFill>
            <a:srgbClr val="F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3ED"/>
                </a:solidFill>
                <a:latin typeface="Arial"/>
                <a:ea typeface="Arial"/>
                <a:cs typeface="Arial"/>
              </a:rPr>
              <a:t>Finch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274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68C"/>
                </a:solidFill>
                <a:latin typeface="Courier New"/>
                <a:ea typeface="Courier New"/>
                <a:cs typeface="Courier New"/>
              </a:rPr>
              <a:t>BY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914400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5F3ED"/>
                </a:solidFill>
                <a:latin typeface="Arial"/>
                <a:ea typeface="Arial"/>
                <a:cs typeface="Arial"/>
              </a:rPr>
              <a:t>Scale that powers Australia’s financial data infrastructure.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5F3ED"/>
                </a:solidFill>
                <a:latin typeface="Arial"/>
                <a:ea typeface="Arial"/>
                <a:cs typeface="Arial"/>
              </a:rPr>
              <a:t>4.2B+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68C"/>
                </a:solidFill>
                <a:latin typeface="Courier New"/>
                <a:ea typeface="Courier New"/>
                <a:cs typeface="Courier New"/>
              </a:rPr>
              <a:t>TRANSACTIONS ENRICHED TO 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24028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5F3ED"/>
                </a:solidFill>
                <a:latin typeface="Arial"/>
                <a:ea typeface="Arial"/>
                <a:cs typeface="Arial"/>
              </a:rPr>
              <a:t>10M+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30175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68C"/>
                </a:solidFill>
                <a:latin typeface="Courier New"/>
                <a:ea typeface="Courier New"/>
                <a:cs typeface="Courier New"/>
              </a:rPr>
              <a:t>END CUSTOMERS ANALYSED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5760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05A47"/>
                </a:solidFill>
                <a:latin typeface="Arial"/>
                <a:ea typeface="Arial"/>
                <a:cs typeface="Arial"/>
              </a:rPr>
              <a:t>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4348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68C"/>
                </a:solidFill>
                <a:latin typeface="Courier New"/>
                <a:ea typeface="Courier New"/>
                <a:cs typeface="Courier New"/>
              </a:rPr>
              <a:t>ENRICHMENT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365760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5F3ED"/>
                </a:solidFill>
                <a:latin typeface="Arial"/>
                <a:ea typeface="Arial"/>
                <a:cs typeface="Arial"/>
              </a:rPr>
              <a:t>1.5M+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4348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68C"/>
                </a:solidFill>
                <a:latin typeface="Courier New"/>
                <a:ea typeface="Courier New"/>
                <a:cs typeface="Courier New"/>
              </a:rPr>
              <a:t>MERCHANTS IN THE DATABASE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166360"/>
            <a:ext cx="11155680" cy="10972"/>
          </a:xfrm>
          <a:prstGeom prst="rect">
            <a:avLst/>
          </a:prstGeom>
          <a:solidFill>
            <a:srgbClr val="2A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34924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5F3ED"/>
                </a:solidFill>
                <a:latin typeface="Arial"/>
                <a:ea typeface="Arial"/>
                <a:cs typeface="Arial"/>
              </a:rPr>
              <a:t>$2B+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53212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68C"/>
                </a:solidFill>
                <a:latin typeface="Courier New"/>
                <a:ea typeface="Courier New"/>
                <a:cs typeface="Courier New"/>
              </a:rPr>
              <a:t>IN TRANSACTION VALUE PROCESSED EVERY MONTH ACROSS AUSTRALIAN BANKS AND FINTECHS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84848"/>
            <a:ext cx="8440404" cy="73152"/>
          </a:xfrm>
          <a:prstGeom prst="rect">
            <a:avLst/>
          </a:prstGeom>
          <a:solidFill>
            <a:srgbClr val="F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40404" y="6784848"/>
            <a:ext cx="3751290" cy="73152"/>
          </a:xfrm>
          <a:prstGeom prst="rect">
            <a:avLst/>
          </a:prstGeom>
          <a:solidFill>
            <a:srgbClr val="2A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29184"/>
            <a:ext cx="146304" cy="146304"/>
          </a:xfrm>
          <a:prstGeom prst="rect">
            <a:avLst/>
          </a:prstGeom>
          <a:solidFill>
            <a:srgbClr val="F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Finch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274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563"/>
                </a:solidFill>
                <a:latin typeface="Courier New"/>
                <a:ea typeface="Courier New"/>
                <a:cs typeface="Courier New"/>
              </a:rPr>
              <a:t>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08  —  WHAT PARTNERS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“Finch improved our merchant identification accuracy overnight. Categorisation is a step-change beyond anything we’d built in-house.”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377440"/>
            <a:ext cx="7498079" cy="10972"/>
          </a:xfrm>
          <a:prstGeom prst="rect">
            <a:avLst/>
          </a:prstGeom>
          <a:solidFill>
            <a:srgbClr val="D8D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48716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Amelia Rowntree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487168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Head of Product  ·  Meridian Bank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2212848" cy="196596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27248"/>
            <a:ext cx="19659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2019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429000"/>
            <a:ext cx="196596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Money20/20 USA Startup Pitch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526280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B7A73"/>
                </a:solidFill>
                <a:latin typeface="Courier New"/>
                <a:ea typeface="Courier New"/>
                <a:cs typeface="Courier New"/>
              </a:rPr>
              <a:t>FINALIST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79776" y="3017520"/>
            <a:ext cx="2212848" cy="196596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9504" y="3127248"/>
            <a:ext cx="19659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2019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9504" y="3429000"/>
            <a:ext cx="196596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Most Innovative Fintech Team, Finder Awards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9504" y="4526280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B7A73"/>
                </a:solidFill>
                <a:latin typeface="Courier New"/>
                <a:ea typeface="Courier New"/>
                <a:cs typeface="Courier New"/>
              </a:rPr>
              <a:t>WINNER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02352" y="3017520"/>
            <a:ext cx="2212848" cy="196596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3127248"/>
            <a:ext cx="19659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2018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429000"/>
            <a:ext cx="196596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Diversity in Fintech Rising Star, YBF Ventures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526280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B7A73"/>
                </a:solidFill>
                <a:latin typeface="Courier New"/>
                <a:ea typeface="Courier New"/>
                <a:cs typeface="Courier New"/>
              </a:rPr>
              <a:t>WINNER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24928" y="3017520"/>
            <a:ext cx="2212848" cy="196596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34656" y="3127248"/>
            <a:ext cx="19659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2018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4656" y="3429000"/>
            <a:ext cx="196596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Best Personal Finance App, Finder Awards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4656" y="4526280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B7A73"/>
                </a:solidFill>
                <a:latin typeface="Courier New"/>
                <a:ea typeface="Courier New"/>
                <a:cs typeface="Courier New"/>
              </a:rPr>
              <a:t>WINNER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47504" y="3017520"/>
            <a:ext cx="2212848" cy="196596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57232" y="3127248"/>
            <a:ext cx="19659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2018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3429000"/>
            <a:ext cx="196596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Best Digital Wallet Australia, Finnies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57232" y="4526280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B7A73"/>
                </a:solidFill>
                <a:latin typeface="Courier New"/>
                <a:ea typeface="Courier New"/>
                <a:cs typeface="Courier New"/>
              </a:rPr>
              <a:t>WINNER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21208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563"/>
                </a:solidFill>
                <a:latin typeface="Courier New"/>
                <a:ea typeface="Courier New"/>
                <a:cs typeface="Courier New"/>
              </a:rPr>
              <a:t>TRUSTED BY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5166360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Meridian Bank    Payloft    AURA Fintech    Ledgerly    Northwind Retail    Cascade Pay    Beacon Credit    Terrace Capital    Coastal Union    Harbour Fintech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84848"/>
            <a:ext cx="9378227" cy="73152"/>
          </a:xfrm>
          <a:prstGeom prst="rect">
            <a:avLst/>
          </a:prstGeom>
          <a:solidFill>
            <a:srgbClr val="F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78227" y="6784848"/>
            <a:ext cx="2813468" cy="73152"/>
          </a:xfrm>
          <a:prstGeom prst="rect">
            <a:avLst/>
          </a:prstGeom>
          <a:solidFill>
            <a:srgbClr val="D8D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29184"/>
            <a:ext cx="146304" cy="146304"/>
          </a:xfrm>
          <a:prstGeom prst="rect">
            <a:avLst/>
          </a:prstGeom>
          <a:solidFill>
            <a:srgbClr val="F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Finch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274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563"/>
                </a:solidFill>
                <a:latin typeface="Courier New"/>
                <a:ea typeface="Courier New"/>
                <a:cs typeface="Courier New"/>
              </a:rPr>
              <a:t>WHY FINCH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Human intelligence and machine learning, one 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024128"/>
            <a:ext cx="42519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A Sydney data science team designs, monitors and improves the models that classify every transaction — and holds accuracy at enterprise levels.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5669280" cy="196596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340864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633472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 Australian merchant graph.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154680"/>
            <a:ext cx="52578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1.5 million merchants, with name, category, location, logo and site — built for the way local card, Osko and direct-debit strings are actually written.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194560"/>
            <a:ext cx="5669280" cy="196596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340864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633472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Accuracy with a human loop.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3154680"/>
            <a:ext cx="52578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Models do the volume. People review the edge. That combination is what keeps enrichment at 95% instead of drifting quietly in production.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97679"/>
            <a:ext cx="5669280" cy="196596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443983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36592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Fast enough to sit in the product.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257799"/>
            <a:ext cx="52578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42ms at the 95th percentile. Sandbox keys in minutes. Production with observability, a 99.99% SLA, and data that stays in Australia.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297679"/>
            <a:ext cx="5669280" cy="1965960"/>
          </a:xfrm>
          <a:prstGeom prst="rect">
            <a:avLst/>
          </a:prstGeom>
          <a:solidFill>
            <a:srgbClr val="FBFAF6"/>
          </a:solidFill>
          <a:ln w="12700">
            <a:solidFill>
              <a:srgbClr val="D8D5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4443983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4736592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One integration, four problems.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5257799"/>
            <a:ext cx="52578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Wellness, affordability, rewards and retail do not need four vendors. They adopt layers of the same API as the use case grows.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84848"/>
            <a:ext cx="10316049" cy="73152"/>
          </a:xfrm>
          <a:prstGeom prst="rect">
            <a:avLst/>
          </a:prstGeom>
          <a:solidFill>
            <a:srgbClr val="F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16049" y="6784848"/>
            <a:ext cx="1875645" cy="73152"/>
          </a:xfrm>
          <a:prstGeom prst="rect">
            <a:avLst/>
          </a:prstGeom>
          <a:solidFill>
            <a:srgbClr val="D8D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29184"/>
            <a:ext cx="146304" cy="146304"/>
          </a:xfrm>
          <a:prstGeom prst="rect">
            <a:avLst/>
          </a:prstGeom>
          <a:solidFill>
            <a:srgbClr val="F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Finch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274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B5563"/>
                </a:solidFill>
                <a:latin typeface="Courier New"/>
                <a:ea typeface="Courier New"/>
                <a:cs typeface="Courier New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From a raw file to a personalised experience.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65960"/>
            <a:ext cx="2697480" cy="1371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9572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80360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Integrate with the Finch API and stream transaction data securely.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965960"/>
            <a:ext cx="2697480" cy="1371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103120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39572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Enrich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880360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Every line is matched, categorised and tagged with merchant intelligence.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965960"/>
            <a:ext cx="2697480" cy="1371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103120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39572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Analyse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880360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Behaviour, income and affordability signals are computed continuously.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1160" y="1965960"/>
            <a:ext cx="2697480" cy="1371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2103120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39572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Personalise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880360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Signals land in products, credit decisions and customer experiences.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06240"/>
            <a:ext cx="11292840" cy="219456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40740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3ED"/>
                </a:solidFill>
                <a:latin typeface="Arial"/>
                <a:ea typeface="Arial"/>
                <a:cs typeface="Arial"/>
              </a:rPr>
              <a:t>Start with your own file.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828032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4BA"/>
                </a:solidFill>
                <a:latin typeface="Arial"/>
                <a:ea typeface="Arial"/>
                <a:cs typeface="Arial"/>
              </a:rPr>
              <a:t>A free enrichment report, usually back within one business day.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443484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YOU SEND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480060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3ED"/>
                </a:solidFill>
                <a:latin typeface="Arial"/>
                <a:ea typeface="Arial"/>
                <a:cs typeface="Arial"/>
              </a:rPr>
              <a:t>An anonymised CSV, or a synthetic sample.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43484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YOU RECEIVE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80060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3ED"/>
                </a:solidFill>
                <a:latin typeface="Arial"/>
                <a:ea typeface="Arial"/>
                <a:cs typeface="Arial"/>
              </a:rPr>
              <a:t>Per-line enrichment, category accuracy, recurring detection.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59" y="443484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THEN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59" y="480060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3ED"/>
                </a:solidFill>
                <a:latin typeface="Arial"/>
                <a:ea typeface="Arial"/>
                <a:cs typeface="Arial"/>
              </a:rPr>
              <a:t>A 30-minute walkthrough. Samples stay under NDA and are deleted after.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84848"/>
            <a:ext cx="11253872" cy="73152"/>
          </a:xfrm>
          <a:prstGeom prst="rect">
            <a:avLst/>
          </a:prstGeom>
          <a:solidFill>
            <a:srgbClr val="F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253872" y="6784848"/>
            <a:ext cx="937822" cy="73152"/>
          </a:xfrm>
          <a:prstGeom prst="rect">
            <a:avLst/>
          </a:prstGeom>
          <a:solidFill>
            <a:srgbClr val="D8D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329184"/>
            <a:ext cx="146304" cy="146304"/>
          </a:xfrm>
          <a:prstGeom prst="rect">
            <a:avLst/>
          </a:prstGeom>
          <a:solidFill>
            <a:srgbClr val="F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3ED"/>
                </a:solidFill>
                <a:latin typeface="Arial"/>
                <a:ea typeface="Arial"/>
                <a:cs typeface="Arial"/>
              </a:rPr>
              <a:t>Finch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274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68C"/>
                </a:solidFill>
                <a:latin typeface="Courier New"/>
                <a:ea typeface="Courier New"/>
                <a:cs typeface="Courier New"/>
              </a:rPr>
              <a:t>FINCH PTY LTD  ·  SYDNEY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05A47"/>
                </a:solidFill>
                <a:latin typeface="Courier New"/>
                <a:ea typeface="Courier New"/>
                <a:cs typeface="Courier New"/>
              </a:rPr>
              <a:t>START WITH FINCH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5F3ED"/>
                </a:solidFill>
                <a:latin typeface="Arial"/>
                <a:ea typeface="Arial"/>
                <a:cs typeface="Arial"/>
              </a:rPr>
              <a:t>Turn transaction data into a competitive advantage.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7472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8C4BA"/>
                </a:solidFill>
                <a:latin typeface="Arial"/>
                <a:ea typeface="Arial"/>
                <a:cs typeface="Arial"/>
              </a:rPr>
              <a:t>Book a walkthrough. We’ll show Finch running on real Australian transaction data and scope a path to production.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434840"/>
            <a:ext cx="2148840" cy="475488"/>
          </a:xfrm>
          <a:prstGeom prst="rect">
            <a:avLst/>
          </a:prstGeom>
          <a:solidFill>
            <a:srgbClr val="F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434840"/>
            <a:ext cx="2148840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  <a:hlinkClick r:id="rId2"/>
              </a:rPr>
              <a:t>Request a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4434840"/>
            <a:ext cx="2926080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8C4BA"/>
                </a:solidFill>
                <a:latin typeface="Courier New"/>
                <a:ea typeface="Courier New"/>
                <a:cs typeface="Courier New"/>
                <a:hlinkClick r:id="rId3"/>
              </a:rPr>
              <a:t>hello@finchxp.com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434840"/>
            <a:ext cx="2743200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8C4BA"/>
                </a:solidFill>
                <a:latin typeface="Courier New"/>
                <a:ea typeface="Courier New"/>
                <a:cs typeface="Courier New"/>
                <a:hlinkClick r:id="rId4"/>
              </a:rPr>
              <a:t>finchxp.tech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349240"/>
            <a:ext cx="11155680" cy="10972"/>
          </a:xfrm>
          <a:prstGeom prst="rect">
            <a:avLst/>
          </a:prstGeom>
          <a:solidFill>
            <a:srgbClr val="2A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5577840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5F3ED"/>
                </a:solidFill>
                <a:latin typeface="Arial"/>
                <a:ea typeface="Arial"/>
                <a:cs typeface="Arial"/>
              </a:rPr>
              <a:t>4.2B+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98932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68C"/>
                </a:solidFill>
                <a:latin typeface="Courier New"/>
                <a:ea typeface="Courier New"/>
                <a:cs typeface="Courier New"/>
              </a:rPr>
              <a:t>TRANSACTIONS ENRICHED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39" y="5577840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5F3ED"/>
                </a:solidFill>
                <a:latin typeface="Arial"/>
                <a:ea typeface="Arial"/>
                <a:cs typeface="Arial"/>
              </a:rPr>
              <a:t>95%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39" y="598932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68C"/>
                </a:solidFill>
                <a:latin typeface="Courier New"/>
                <a:ea typeface="Courier New"/>
                <a:cs typeface="Courier New"/>
              </a:rPr>
              <a:t>MERCHANT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5577840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5F3ED"/>
                </a:solidFill>
                <a:latin typeface="Arial"/>
                <a:ea typeface="Arial"/>
                <a:cs typeface="Arial"/>
              </a:rPr>
              <a:t>42ms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598932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68C"/>
                </a:solidFill>
                <a:latin typeface="Courier New"/>
                <a:ea typeface="Courier New"/>
                <a:cs typeface="Courier New"/>
              </a:rPr>
              <a:t>P95 LATENCY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191695" y="6784848"/>
            <a:ext cx="0" cy="73152"/>
          </a:xfrm>
          <a:prstGeom prst="rect">
            <a:avLst/>
          </a:prstGeom>
          <a:solidFill>
            <a:srgbClr val="2A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Finch — Pitch</dc:title>
  <dc:subject>Transaction data intelligence</dc:subject>
  <dc:creator>Finch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