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49D6CE"/>
                </a:solidFill>
                <a:latin typeface="Calibri"/>
              </a:rPr>
              <a:t>OPENCFO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Control cash flows.
Boost working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8686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8EEEF"/>
                </a:solidFill>
                <a:latin typeface="Calibri"/>
              </a:rPr>
              <a:t>The agentic finance platform that automates accounts receivable,
accounts payable, and treasury on top of the ERP you already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4924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13248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opencfo.tech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5989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49D6CE"/>
                </a:solidFill>
                <a:latin typeface="Calibri"/>
              </a:rPr>
              <a:t>Seed-stage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C821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72F35"/>
                </a:solidFill>
                <a:latin typeface="Calibri"/>
              </a:rPr>
              <a:t>Cash is trapped between the invoice and the bank.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C821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2F35"/>
                </a:solidFill>
                <a:latin typeface="Calibri"/>
              </a:rPr>
              <a:t>Slow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Follow-ups live in inboxes and spreadsheets. Days sales outstanding drifts, and cash arrives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C821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2F35"/>
                </a:solidFill>
                <a:latin typeface="Calibri"/>
              </a:rPr>
              <a:t>Payables without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977639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Invoices, approvals, and payment timing sit in different tools. Errors and missed discounts follow.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148840"/>
            <a:ext cx="3566160" cy="33832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37744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C821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2F35"/>
                </a:solidFill>
                <a:latin typeface="Calibri"/>
              </a:rPr>
              <a:t>Treasury after the 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977639"/>
            <a:ext cx="30175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Cash positions, FX, and liquidity are reconciled after the close, not while the money is moving.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521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The ERP stores the numbers. It does not run the next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9D6CE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One system of intelligence
above the system of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6888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5F4F4"/>
                </a:solidFill>
                <a:latin typeface="Calibri"/>
              </a:rPr>
              <a:t>OpenCFO connects to the ERP, the accounting system, and the banks. AI agents monitor, decide, and act on cash flow, then sync the result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56616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712463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70332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Collections, cash application, and credit risk in one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48056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26864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61772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Invoice capture, 2-way and 3-way match, and payment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394960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541264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Treasury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53212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Cash positions, liquidity risk, and FX across entities.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C821F"/>
                </a:solidFill>
                <a:latin typeface="Calibr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72F35"/>
                </a:solidFill>
                <a:latin typeface="Calibri"/>
              </a:rPr>
              <a:t>Three workflows. One cash picture.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703320" cy="484632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703320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2F35"/>
                </a:solidFill>
                <a:latin typeface="Calibri"/>
              </a:rPr>
              <a:t>Accounts receivable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Collections that prioritize follow-ups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Cash application that matches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Credit risk tracked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C821F"/>
                </a:solidFill>
                <a:latin typeface="Calibri"/>
              </a:rPr>
              <a:t>Lower DSO  ·  Less bad debt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703320" cy="484632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703320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2F35"/>
                </a:solidFill>
                <a:latin typeface="Calibri"/>
              </a:rPr>
              <a:t>Accounts payable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Invoice capture and 2-way / 3-way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2044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Payment timing and 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9768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Vendor bills, receipts, and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4924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C821F"/>
                </a:solidFill>
                <a:latin typeface="Calibri"/>
              </a:rPr>
              <a:t>Stronger DPO  ·  On-time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703320" cy="484632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703320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737360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72F35"/>
                </a:solidFill>
                <a:latin typeface="Calibri"/>
              </a:rPr>
              <a:t>Treasury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4320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Cash by account, entity, and currency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2044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Liquidity gaps flagged 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297680"/>
            <a:ext cx="32461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Domestic and cross-border FX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34924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C821F"/>
                </a:solidFill>
                <a:latin typeface="Calibri"/>
              </a:rPr>
              <a:t>Clearer cash  ·  Less FX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C821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072F35"/>
                </a:solidFill>
                <a:latin typeface="Calibri"/>
              </a:rPr>
              <a:t>Live in weeks, not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3D5C62"/>
                </a:solidFill>
                <a:latin typeface="Calibri"/>
              </a:rPr>
              <a:t>OpenCFO sits on the systems you already use. Nothing is ripped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3611880" cy="3200400"/>
          </a:xfrm>
          <a:prstGeom prst="roundRect">
            <a:avLst>
              <a:gd name="adj" fmla="val 12000"/>
            </a:avLst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49D6C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5F4F4"/>
                </a:solidFill>
                <a:latin typeface="Calibri"/>
              </a:rPr>
              <a:t>Link the ERP, the accounting system, and the banks. Existing workflows stay in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611880" cy="3200400"/>
          </a:xfrm>
          <a:prstGeom prst="roundRect">
            <a:avLst>
              <a:gd name="adj" fmla="val 12000"/>
            </a:avLst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49D6C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605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5F4F4"/>
                </a:solidFill>
                <a:latin typeface="Calibri"/>
              </a:rPr>
              <a:t>Set the rules for payments, reconciliation, collections, and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68880"/>
            <a:ext cx="3611880" cy="3200400"/>
          </a:xfrm>
          <a:prstGeom prst="roundRect">
            <a:avLst>
              <a:gd name="adj" fmla="val 12000"/>
            </a:avLst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6974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49D6CE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42900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605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5F4F4"/>
                </a:solidFill>
                <a:latin typeface="Calibri"/>
              </a:rPr>
              <a:t>Agents keep working the cash cycle. Working capital improves as the rules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C821F"/>
                </a:solidFill>
                <a:latin typeface="Calibri"/>
              </a:rPr>
              <a:t>WHY FINANCE TEAMS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72F35"/>
                </a:solidFill>
                <a:latin typeface="Calibri"/>
              </a:rPr>
              <a:t>Better control of the cash conversion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Shorter cash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Receivables, payables, and treasury move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More working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Cash comes out of the process without adding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69164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Faster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One live view replaces the delayed close pack.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Earlier risk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Liquidity gaps show up before they hit the forecast.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Less manual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3776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Matching, cleanup, and follow-up run as workflows.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93192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20624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72F35"/>
                </a:solidFill>
                <a:latin typeface="Calibri"/>
              </a:rPr>
              <a:t>Works with the ERP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3200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3D5C62"/>
                </a:solidFill>
                <a:latin typeface="Calibri"/>
              </a:rPr>
              <a:t>The ledger stays the system of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C821F"/>
                </a:solidFill>
                <a:latin typeface="Calibri"/>
              </a:rPr>
              <a:t>WHO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72F35"/>
                </a:solidFill>
                <a:latin typeface="Calibri"/>
              </a:rPr>
              <a:t>Lean finance teams that have an ERP
and still run cash in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80360"/>
            <a:ext cx="164592" cy="86868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72F35"/>
                </a:solidFill>
                <a:latin typeface="Calibri"/>
              </a:rPr>
              <a:t>CFO and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64408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Need DSO, DPO, and liquidity in one place, without another close.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023360"/>
            <a:ext cx="164592" cy="86868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233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72F35"/>
                </a:solidFill>
                <a:latin typeface="Calibri"/>
              </a:rPr>
              <a:t>Finance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07408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Need collections, bills, and reconciliations off the manual queue.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166360"/>
            <a:ext cx="164592" cy="868680"/>
          </a:xfrm>
          <a:prstGeom prst="roundRect">
            <a:avLst>
              <a:gd name="adj" fmla="val 12000"/>
            </a:avLst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72F35"/>
                </a:solidFill>
                <a:latin typeface="Calibri"/>
              </a:rPr>
              <a:t>Multi-entity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550408"/>
            <a:ext cx="9601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Need cash, currency, and approvals across entities and banks.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C821F"/>
                </a:solidFill>
                <a:latin typeface="Calibri"/>
              </a:rPr>
              <a:t>HOW IT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72F35"/>
                </a:solidFill>
                <a:latin typeface="Calibri"/>
              </a:rPr>
              <a:t>Connects to the stack. Priced on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NetSuite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830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Dynamics 365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5448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7830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QuickBooks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155448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7830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39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39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Zoho Books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606039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834639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Zuora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606039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834639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606039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3FFFE"/>
          </a:solidFill>
          <a:ln w="15875">
            <a:solidFill>
              <a:srgbClr val="C0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834639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72F35"/>
                </a:solidFill>
                <a:latin typeface="Calibri"/>
              </a:rPr>
              <a:t>SWIFT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D5C62"/>
                </a:solidFill>
                <a:latin typeface="Calibri"/>
              </a:rPr>
              <a:t>Custom bank and ERP connections are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12000"/>
            </a:avLst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10424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9D6CE"/>
                </a:solidFill>
                <a:latin typeface="Calibri"/>
              </a:rPr>
              <a:t>Commercial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Start on a trial. Pay when the platform is returning cash-cycle value.
Guided onboarding takes a customer live in weeks.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C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49D6CE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Voice for the calls
finance still makes by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5F4F4"/>
                </a:solidFill>
                <a:latin typeface="Calibri"/>
              </a:rPr>
              <a:t>OpenCFO will use a branded voice agent for overdue-invoice calls and vendor payment-status calls. The agent states the amount, records a promise or a dispute, and writes the result back to the receivable or the bill.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9D6CE"/>
                </a:solidFill>
                <a:latin typeface="Calibri"/>
              </a:rPr>
              <a:t>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120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opencfo.tech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9D6CE"/>
                </a:solidFill>
                <a:latin typeface="Calibr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2120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info@opencfo.tech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8920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49D6CE"/>
                </a:solidFill>
                <a:latin typeface="Calibri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52120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Book a 30-minute call from the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