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417320"/>
            <a:ext cx="1051560" cy="38100"/>
          </a:xfrm>
          <a:prstGeom prst="rect">
            <a:avLst/>
          </a:prstGeom>
          <a:solidFill>
            <a:srgbClr val="C45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9144000" cy="457200"/>
          </a:xfrm>
          <a:prstGeom prst="rect">
            <a:avLst/>
          </a:prstGeom>
          <a:noFill/>
        </p:spPr>
        <p:txBody>
          <a:bodyPr wrap="square">
            <a:spAutoFit/>
          </a:bodyPr>
          <a:lstStyle/>
          <a:p>
            <a:pPr algn="l">
              <a:lnSpc>
                <a:spcPct val="105000"/>
              </a:lnSpc>
              <a:spcBef>
                <a:spcPts val="0"/>
              </a:spcBef>
              <a:spcAft>
                <a:spcPts val="0"/>
              </a:spcAft>
            </a:pPr>
            <a:r>
              <a:rPr sz="2000" b="0" i="0">
                <a:solidFill>
                  <a:srgbClr val="C45C12"/>
                </a:solidFill>
                <a:latin typeface="Inter"/>
              </a:rPr>
              <a:t>OpenCFO</a:t>
            </a:r>
          </a:p>
        </p:txBody>
      </p:sp>
      <p:sp>
        <p:nvSpPr>
          <p:cNvPr id="5" name="TextBox 4"/>
          <p:cNvSpPr txBox="1"/>
          <p:nvPr/>
        </p:nvSpPr>
        <p:spPr>
          <a:xfrm>
            <a:off x="658368" y="2148840"/>
            <a:ext cx="10058400" cy="2011680"/>
          </a:xfrm>
          <a:prstGeom prst="rect">
            <a:avLst/>
          </a:prstGeom>
          <a:noFill/>
        </p:spPr>
        <p:txBody>
          <a:bodyPr wrap="square">
            <a:spAutoFit/>
          </a:bodyPr>
          <a:lstStyle/>
          <a:p>
            <a:pPr algn="l">
              <a:lnSpc>
                <a:spcPct val="95000"/>
              </a:lnSpc>
              <a:spcBef>
                <a:spcPts val="0"/>
              </a:spcBef>
              <a:spcAft>
                <a:spcPts val="0"/>
              </a:spcAft>
            </a:pPr>
            <a:r>
              <a:rPr sz="4400" b="0" i="0">
                <a:solidFill>
                  <a:srgbClr val="FFFCF7"/>
                </a:solidFill>
                <a:latin typeface="Liberation Serif"/>
              </a:rPr>
              <a:t>Cash control for teams
that already have an ERP.</a:t>
            </a:r>
          </a:p>
        </p:txBody>
      </p:sp>
      <p:sp>
        <p:nvSpPr>
          <p:cNvPr id="6" name="TextBox 5"/>
          <p:cNvSpPr txBox="1"/>
          <p:nvPr/>
        </p:nvSpPr>
        <p:spPr>
          <a:xfrm>
            <a:off x="685800" y="4709160"/>
            <a:ext cx="8229600" cy="731520"/>
          </a:xfrm>
          <a:prstGeom prst="rect">
            <a:avLst/>
          </a:prstGeom>
          <a:noFill/>
        </p:spPr>
        <p:txBody>
          <a:bodyPr wrap="square">
            <a:spAutoFit/>
          </a:bodyPr>
          <a:lstStyle/>
          <a:p>
            <a:pPr algn="l">
              <a:lnSpc>
                <a:spcPct val="115000"/>
              </a:lnSpc>
              <a:spcBef>
                <a:spcPts val="0"/>
              </a:spcBef>
              <a:spcAft>
                <a:spcPts val="0"/>
              </a:spcAft>
            </a:pPr>
            <a:r>
              <a:rPr sz="1800" b="0" i="0">
                <a:solidFill>
                  <a:srgbClr val="C9D0CE"/>
                </a:solidFill>
                <a:latin typeface="Inter"/>
              </a:rPr>
              <a:t>Accounts receivable, accounts payable, and treasury.
The books stay in the ERP. The follow-up does not.</a:t>
            </a:r>
          </a:p>
        </p:txBody>
      </p:sp>
      <p:sp>
        <p:nvSpPr>
          <p:cNvPr id="7" name="TextBox 6"/>
          <p:cNvSpPr txBox="1"/>
          <p:nvPr/>
        </p:nvSpPr>
        <p:spPr>
          <a:xfrm>
            <a:off x="685800" y="5989320"/>
            <a:ext cx="5486400" cy="274320"/>
          </a:xfrm>
          <a:prstGeom prst="rect">
            <a:avLst/>
          </a:prstGeom>
          <a:noFill/>
        </p:spPr>
        <p:txBody>
          <a:bodyPr wrap="square">
            <a:spAutoFit/>
          </a:bodyPr>
          <a:lstStyle/>
          <a:p>
            <a:pPr algn="l">
              <a:lnSpc>
                <a:spcPct val="105000"/>
              </a:lnSpc>
              <a:spcBef>
                <a:spcPts val="0"/>
              </a:spcBef>
              <a:spcAft>
                <a:spcPts val="0"/>
              </a:spcAft>
            </a:pPr>
            <a:r>
              <a:rPr sz="1400" b="0" i="0">
                <a:solidFill>
                  <a:srgbClr val="E7E2D8"/>
                </a:solidFill>
                <a:latin typeface="Inter"/>
              </a:rPr>
              <a:t>opencfo.tech</a:t>
            </a:r>
          </a:p>
        </p:txBody>
      </p:sp>
      <p:sp>
        <p:nvSpPr>
          <p:cNvPr id="8" name="TextBox 7"/>
          <p:cNvSpPr txBox="1"/>
          <p:nvPr/>
        </p:nvSpPr>
        <p:spPr>
          <a:xfrm>
            <a:off x="7772400" y="5989320"/>
            <a:ext cx="3657600" cy="274320"/>
          </a:xfrm>
          <a:prstGeom prst="rect">
            <a:avLst/>
          </a:prstGeom>
          <a:noFill/>
        </p:spPr>
        <p:txBody>
          <a:bodyPr wrap="square">
            <a:spAutoFit/>
          </a:bodyPr>
          <a:lstStyle/>
          <a:p>
            <a:pPr algn="r">
              <a:lnSpc>
                <a:spcPct val="105000"/>
              </a:lnSpc>
              <a:spcBef>
                <a:spcPts val="0"/>
              </a:spcBef>
              <a:spcAft>
                <a:spcPts val="0"/>
              </a:spcAft>
            </a:pPr>
            <a:r>
              <a:rPr sz="1400" b="0" i="0">
                <a:solidFill>
                  <a:srgbClr val="E7E2D8"/>
                </a:solidFill>
                <a:latin typeface="Inter"/>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38912"/>
            <a:ext cx="10515600" cy="1280160"/>
          </a:xfrm>
          <a:prstGeom prst="rect">
            <a:avLst/>
          </a:prstGeom>
          <a:noFill/>
        </p:spPr>
        <p:txBody>
          <a:bodyPr wrap="square">
            <a:spAutoFit/>
          </a:bodyPr>
          <a:lstStyle/>
          <a:p>
            <a:pPr algn="l">
              <a:lnSpc>
                <a:spcPct val="95000"/>
              </a:lnSpc>
              <a:spcBef>
                <a:spcPts val="0"/>
              </a:spcBef>
              <a:spcAft>
                <a:spcPts val="0"/>
              </a:spcAft>
            </a:pPr>
            <a:r>
              <a:rPr sz="3400" b="0" i="0">
                <a:solidFill>
                  <a:srgbClr val="1A2426"/>
                </a:solidFill>
                <a:latin typeface="Liberation Serif"/>
              </a:rPr>
              <a:t>The books are fine.
Getting paid is the messy part.</a:t>
            </a:r>
          </a:p>
        </p:txBody>
      </p:sp>
      <p:sp>
        <p:nvSpPr>
          <p:cNvPr id="4" name="TextBox 3"/>
          <p:cNvSpPr txBox="1"/>
          <p:nvPr/>
        </p:nvSpPr>
        <p:spPr>
          <a:xfrm>
            <a:off x="685800" y="2148840"/>
            <a:ext cx="10241280" cy="1188720"/>
          </a:xfrm>
          <a:prstGeom prst="rect">
            <a:avLst/>
          </a:prstGeom>
          <a:noFill/>
        </p:spPr>
        <p:txBody>
          <a:bodyPr wrap="square">
            <a:spAutoFit/>
          </a:bodyPr>
          <a:lstStyle/>
          <a:p>
            <a:pPr algn="l">
              <a:lnSpc>
                <a:spcPct val="120000"/>
              </a:lnSpc>
              <a:spcBef>
                <a:spcPts val="0"/>
              </a:spcBef>
              <a:spcAft>
                <a:spcPts val="0"/>
              </a:spcAft>
            </a:pPr>
            <a:r>
              <a:rPr sz="1800" b="0" i="0">
                <a:solidFill>
                  <a:srgbClr val="5C6566"/>
                </a:solidFill>
                <a:latin typeface="Inter"/>
              </a:rPr>
              <a:t>A controller can close the month and still not know which customers will pay this week, which bills should wait, or what the bank balance will be on Friday. That work sits in inboxes, shared drives, and a cash spreadsheet someone updates by hand.</a:t>
            </a:r>
          </a:p>
        </p:txBody>
      </p:sp>
      <p:sp>
        <p:nvSpPr>
          <p:cNvPr id="5" name="Rectangle 4"/>
          <p:cNvSpPr/>
          <p:nvPr/>
        </p:nvSpPr>
        <p:spPr>
          <a:xfrm>
            <a:off x="685800" y="3520440"/>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593592"/>
            <a:ext cx="2286000" cy="411480"/>
          </a:xfrm>
          <a:prstGeom prst="rect">
            <a:avLst/>
          </a:prstGeom>
          <a:noFill/>
        </p:spPr>
        <p:txBody>
          <a:bodyPr wrap="square">
            <a:spAutoFit/>
          </a:bodyPr>
          <a:lstStyle/>
          <a:p>
            <a:pPr algn="l">
              <a:lnSpc>
                <a:spcPct val="105000"/>
              </a:lnSpc>
              <a:spcBef>
                <a:spcPts val="0"/>
              </a:spcBef>
              <a:spcAft>
                <a:spcPts val="0"/>
              </a:spcAft>
            </a:pPr>
            <a:r>
              <a:rPr sz="1500" b="1" i="0">
                <a:solidFill>
                  <a:srgbClr val="1A2426"/>
                </a:solidFill>
                <a:latin typeface="Inter"/>
              </a:rPr>
              <a:t>Collections</a:t>
            </a:r>
          </a:p>
        </p:txBody>
      </p:sp>
      <p:sp>
        <p:nvSpPr>
          <p:cNvPr id="7" name="TextBox 6"/>
          <p:cNvSpPr txBox="1"/>
          <p:nvPr/>
        </p:nvSpPr>
        <p:spPr>
          <a:xfrm>
            <a:off x="3108960" y="3593592"/>
            <a:ext cx="8321040" cy="457200"/>
          </a:xfrm>
          <a:prstGeom prst="rect">
            <a:avLst/>
          </a:prstGeom>
          <a:noFill/>
        </p:spPr>
        <p:txBody>
          <a:bodyPr wrap="square">
            <a:spAutoFit/>
          </a:bodyPr>
          <a:lstStyle/>
          <a:p>
            <a:pPr algn="l">
              <a:lnSpc>
                <a:spcPct val="105000"/>
              </a:lnSpc>
              <a:spcBef>
                <a:spcPts val="0"/>
              </a:spcBef>
              <a:spcAft>
                <a:spcPts val="0"/>
              </a:spcAft>
            </a:pPr>
            <a:r>
              <a:rPr sz="1500" b="0" i="0">
                <a:solidFill>
                  <a:srgbClr val="5C6566"/>
                </a:solidFill>
                <a:latin typeface="Inter"/>
              </a:rPr>
              <a:t>Reminders go out when someone has time. The oldest invoices are not always the ones that get a call.</a:t>
            </a:r>
          </a:p>
        </p:txBody>
      </p:sp>
      <p:sp>
        <p:nvSpPr>
          <p:cNvPr id="8" name="Rectangle 7"/>
          <p:cNvSpPr/>
          <p:nvPr/>
        </p:nvSpPr>
        <p:spPr>
          <a:xfrm>
            <a:off x="685800" y="4178808"/>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251960"/>
            <a:ext cx="2286000" cy="411480"/>
          </a:xfrm>
          <a:prstGeom prst="rect">
            <a:avLst/>
          </a:prstGeom>
          <a:noFill/>
        </p:spPr>
        <p:txBody>
          <a:bodyPr wrap="square">
            <a:spAutoFit/>
          </a:bodyPr>
          <a:lstStyle/>
          <a:p>
            <a:pPr algn="l">
              <a:lnSpc>
                <a:spcPct val="105000"/>
              </a:lnSpc>
              <a:spcBef>
                <a:spcPts val="0"/>
              </a:spcBef>
              <a:spcAft>
                <a:spcPts val="0"/>
              </a:spcAft>
            </a:pPr>
            <a:r>
              <a:rPr sz="1500" b="1" i="0">
                <a:solidFill>
                  <a:srgbClr val="1A2426"/>
                </a:solidFill>
                <a:latin typeface="Inter"/>
              </a:rPr>
              <a:t>Cash application</a:t>
            </a:r>
          </a:p>
        </p:txBody>
      </p:sp>
      <p:sp>
        <p:nvSpPr>
          <p:cNvPr id="10" name="TextBox 9"/>
          <p:cNvSpPr txBox="1"/>
          <p:nvPr/>
        </p:nvSpPr>
        <p:spPr>
          <a:xfrm>
            <a:off x="3108960" y="4251960"/>
            <a:ext cx="8321040" cy="457200"/>
          </a:xfrm>
          <a:prstGeom prst="rect">
            <a:avLst/>
          </a:prstGeom>
          <a:noFill/>
        </p:spPr>
        <p:txBody>
          <a:bodyPr wrap="square">
            <a:spAutoFit/>
          </a:bodyPr>
          <a:lstStyle/>
          <a:p>
            <a:pPr algn="l">
              <a:lnSpc>
                <a:spcPct val="105000"/>
              </a:lnSpc>
              <a:spcBef>
                <a:spcPts val="0"/>
              </a:spcBef>
              <a:spcAft>
                <a:spcPts val="0"/>
              </a:spcAft>
            </a:pPr>
            <a:r>
              <a:rPr sz="1500" b="0" i="0">
                <a:solidFill>
                  <a:srgbClr val="5C6566"/>
                </a:solidFill>
                <a:latin typeface="Inter"/>
              </a:rPr>
              <a:t>A payment arrives. Matching it to the right invoice is still a person and a remittance PDF.</a:t>
            </a:r>
          </a:p>
        </p:txBody>
      </p:sp>
      <p:sp>
        <p:nvSpPr>
          <p:cNvPr id="11" name="Rectangle 10"/>
          <p:cNvSpPr/>
          <p:nvPr/>
        </p:nvSpPr>
        <p:spPr>
          <a:xfrm>
            <a:off x="685800" y="4837176"/>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910328"/>
            <a:ext cx="2286000" cy="411480"/>
          </a:xfrm>
          <a:prstGeom prst="rect">
            <a:avLst/>
          </a:prstGeom>
          <a:noFill/>
        </p:spPr>
        <p:txBody>
          <a:bodyPr wrap="square">
            <a:spAutoFit/>
          </a:bodyPr>
          <a:lstStyle/>
          <a:p>
            <a:pPr algn="l">
              <a:lnSpc>
                <a:spcPct val="105000"/>
              </a:lnSpc>
              <a:spcBef>
                <a:spcPts val="0"/>
              </a:spcBef>
              <a:spcAft>
                <a:spcPts val="0"/>
              </a:spcAft>
            </a:pPr>
            <a:r>
              <a:rPr sz="1500" b="1" i="0">
                <a:solidFill>
                  <a:srgbClr val="1A2426"/>
                </a:solidFill>
                <a:latin typeface="Inter"/>
              </a:rPr>
              <a:t>Payables</a:t>
            </a:r>
          </a:p>
        </p:txBody>
      </p:sp>
      <p:sp>
        <p:nvSpPr>
          <p:cNvPr id="13" name="TextBox 12"/>
          <p:cNvSpPr txBox="1"/>
          <p:nvPr/>
        </p:nvSpPr>
        <p:spPr>
          <a:xfrm>
            <a:off x="3108960" y="4910328"/>
            <a:ext cx="8321040" cy="457200"/>
          </a:xfrm>
          <a:prstGeom prst="rect">
            <a:avLst/>
          </a:prstGeom>
          <a:noFill/>
        </p:spPr>
        <p:txBody>
          <a:bodyPr wrap="square">
            <a:spAutoFit/>
          </a:bodyPr>
          <a:lstStyle/>
          <a:p>
            <a:pPr algn="l">
              <a:lnSpc>
                <a:spcPct val="105000"/>
              </a:lnSpc>
              <a:spcBef>
                <a:spcPts val="0"/>
              </a:spcBef>
              <a:spcAft>
                <a:spcPts val="0"/>
              </a:spcAft>
            </a:pPr>
            <a:r>
              <a:rPr sz="1500" b="0" i="0">
                <a:solidFill>
                  <a:srgbClr val="5C6566"/>
                </a:solidFill>
                <a:latin typeface="Inter"/>
              </a:rPr>
              <a:t>The bill, the approval, and the day you actually pay are three different places.</a:t>
            </a:r>
          </a:p>
        </p:txBody>
      </p:sp>
      <p:sp>
        <p:nvSpPr>
          <p:cNvPr id="14" name="Rectangle 13"/>
          <p:cNvSpPr/>
          <p:nvPr/>
        </p:nvSpPr>
        <p:spPr>
          <a:xfrm>
            <a:off x="685800" y="5495544"/>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568696"/>
            <a:ext cx="2286000" cy="411480"/>
          </a:xfrm>
          <a:prstGeom prst="rect">
            <a:avLst/>
          </a:prstGeom>
          <a:noFill/>
        </p:spPr>
        <p:txBody>
          <a:bodyPr wrap="square">
            <a:spAutoFit/>
          </a:bodyPr>
          <a:lstStyle/>
          <a:p>
            <a:pPr algn="l">
              <a:lnSpc>
                <a:spcPct val="105000"/>
              </a:lnSpc>
              <a:spcBef>
                <a:spcPts val="0"/>
              </a:spcBef>
              <a:spcAft>
                <a:spcPts val="0"/>
              </a:spcAft>
            </a:pPr>
            <a:r>
              <a:rPr sz="1500" b="1" i="0">
                <a:solidFill>
                  <a:srgbClr val="1A2426"/>
                </a:solidFill>
                <a:latin typeface="Inter"/>
              </a:rPr>
              <a:t>Cash position</a:t>
            </a:r>
          </a:p>
        </p:txBody>
      </p:sp>
      <p:sp>
        <p:nvSpPr>
          <p:cNvPr id="16" name="TextBox 15"/>
          <p:cNvSpPr txBox="1"/>
          <p:nvPr/>
        </p:nvSpPr>
        <p:spPr>
          <a:xfrm>
            <a:off x="3108960" y="5568696"/>
            <a:ext cx="8321040" cy="457200"/>
          </a:xfrm>
          <a:prstGeom prst="rect">
            <a:avLst/>
          </a:prstGeom>
          <a:noFill/>
        </p:spPr>
        <p:txBody>
          <a:bodyPr wrap="square">
            <a:spAutoFit/>
          </a:bodyPr>
          <a:lstStyle/>
          <a:p>
            <a:pPr algn="l">
              <a:lnSpc>
                <a:spcPct val="105000"/>
              </a:lnSpc>
              <a:spcBef>
                <a:spcPts val="0"/>
              </a:spcBef>
              <a:spcAft>
                <a:spcPts val="0"/>
              </a:spcAft>
            </a:pPr>
            <a:r>
              <a:rPr sz="1500" b="0" i="0">
                <a:solidFill>
                  <a:srgbClr val="5C6566"/>
                </a:solidFill>
                <a:latin typeface="Inter"/>
              </a:rPr>
              <a:t>Treasury is whatever was exported from the banks yesterday.</a:t>
            </a:r>
          </a:p>
        </p:txBody>
      </p:sp>
      <p:sp>
        <p:nvSpPr>
          <p:cNvPr id="17" name="TextBox 16"/>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18" name="TextBox 17"/>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36576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What we do</a:t>
            </a:r>
          </a:p>
        </p:txBody>
      </p:sp>
      <p:sp>
        <p:nvSpPr>
          <p:cNvPr id="4" name="TextBox 3"/>
          <p:cNvSpPr txBox="1"/>
          <p:nvPr/>
        </p:nvSpPr>
        <p:spPr>
          <a:xfrm>
            <a:off x="685800" y="960120"/>
            <a:ext cx="10515600" cy="1828800"/>
          </a:xfrm>
          <a:prstGeom prst="rect">
            <a:avLst/>
          </a:prstGeom>
          <a:noFill/>
        </p:spPr>
        <p:txBody>
          <a:bodyPr wrap="square">
            <a:spAutoFit/>
          </a:bodyPr>
          <a:lstStyle/>
          <a:p>
            <a:pPr algn="l">
              <a:lnSpc>
                <a:spcPct val="98000"/>
              </a:lnSpc>
              <a:spcBef>
                <a:spcPts val="0"/>
              </a:spcBef>
              <a:spcAft>
                <a:spcPts val="0"/>
              </a:spcAft>
            </a:pPr>
            <a:r>
              <a:rPr sz="3600" b="0" i="0">
                <a:solidFill>
                  <a:srgbClr val="1A2426"/>
                </a:solidFill>
                <a:latin typeface="Liberation Serif"/>
              </a:rPr>
              <a:t>OpenCFO sits on top of the
ERP and does the cash work.</a:t>
            </a:r>
          </a:p>
        </p:txBody>
      </p:sp>
      <p:sp>
        <p:nvSpPr>
          <p:cNvPr id="5" name="TextBox 4"/>
          <p:cNvSpPr txBox="1"/>
          <p:nvPr/>
        </p:nvSpPr>
        <p:spPr>
          <a:xfrm>
            <a:off x="685800" y="3108960"/>
            <a:ext cx="6583680" cy="2377440"/>
          </a:xfrm>
          <a:prstGeom prst="rect">
            <a:avLst/>
          </a:prstGeom>
          <a:noFill/>
        </p:spPr>
        <p:txBody>
          <a:bodyPr wrap="square">
            <a:spAutoFit/>
          </a:bodyPr>
          <a:lstStyle/>
          <a:p>
            <a:pPr algn="l">
              <a:lnSpc>
                <a:spcPct val="120000"/>
              </a:lnSpc>
              <a:spcBef>
                <a:spcPts val="0"/>
              </a:spcBef>
              <a:spcAft>
                <a:spcPts val="0"/>
              </a:spcAft>
            </a:pPr>
            <a:r>
              <a:rPr sz="1800" b="0" i="0">
                <a:solidFill>
                  <a:srgbClr val="5C6566"/>
                </a:solidFill>
                <a:latin typeface="Inter"/>
              </a:rPr>
              <a:t>We connect to the accounting system and the banks. From there the product runs the jobs a finance team keeps doing by hand: chasing invoices, applying cash, moving bills through approval, and showing cash across accounts.</a:t>
            </a:r>
          </a:p>
        </p:txBody>
      </p:sp>
      <p:sp>
        <p:nvSpPr>
          <p:cNvPr id="6" name="TextBox 5"/>
          <p:cNvSpPr txBox="1"/>
          <p:nvPr/>
        </p:nvSpPr>
        <p:spPr>
          <a:xfrm>
            <a:off x="7680960" y="3154680"/>
            <a:ext cx="3840480" cy="2377440"/>
          </a:xfrm>
          <a:prstGeom prst="rect">
            <a:avLst/>
          </a:prstGeom>
          <a:noFill/>
        </p:spPr>
        <p:txBody>
          <a:bodyPr wrap="square">
            <a:spAutoFit/>
          </a:bodyPr>
          <a:lstStyle/>
          <a:p>
            <a:pPr algn="l">
              <a:lnSpc>
                <a:spcPct val="120000"/>
              </a:lnSpc>
              <a:spcBef>
                <a:spcPts val="0"/>
              </a:spcBef>
              <a:spcAft>
                <a:spcPts val="0"/>
              </a:spcAft>
            </a:pPr>
            <a:r>
              <a:rPr sz="1800" b="0" i="0">
                <a:solidFill>
                  <a:srgbClr val="1A2426"/>
                </a:solidFill>
                <a:latin typeface="Inter"/>
              </a:rPr>
              <a:t>The ERP stays the system of record. We are not asking anyone to move their ledger.</a:t>
            </a:r>
          </a:p>
        </p:txBody>
      </p:sp>
      <p:sp>
        <p:nvSpPr>
          <p:cNvPr id="7" name="Rectangle 6"/>
          <p:cNvSpPr/>
          <p:nvPr/>
        </p:nvSpPr>
        <p:spPr>
          <a:xfrm>
            <a:off x="7680960" y="3063240"/>
            <a:ext cx="1005840" cy="31750"/>
          </a:xfrm>
          <a:prstGeom prst="rect">
            <a:avLst/>
          </a:prstGeom>
          <a:solidFill>
            <a:srgbClr val="C45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9" name="TextBox 8"/>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32004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Receivables</a:t>
            </a:r>
          </a:p>
        </p:txBody>
      </p:sp>
      <p:sp>
        <p:nvSpPr>
          <p:cNvPr id="4" name="TextBox 3"/>
          <p:cNvSpPr txBox="1"/>
          <p:nvPr/>
        </p:nvSpPr>
        <p:spPr>
          <a:xfrm>
            <a:off x="685800" y="822960"/>
            <a:ext cx="10058400" cy="914400"/>
          </a:xfrm>
          <a:prstGeom prst="rect">
            <a:avLst/>
          </a:prstGeom>
          <a:noFill/>
        </p:spPr>
        <p:txBody>
          <a:bodyPr wrap="square">
            <a:spAutoFit/>
          </a:bodyPr>
          <a:lstStyle/>
          <a:p>
            <a:pPr algn="l">
              <a:lnSpc>
                <a:spcPct val="105000"/>
              </a:lnSpc>
              <a:spcBef>
                <a:spcPts val="0"/>
              </a:spcBef>
              <a:spcAft>
                <a:spcPts val="0"/>
              </a:spcAft>
            </a:pPr>
            <a:r>
              <a:rPr sz="3000" b="0" i="0">
                <a:solidFill>
                  <a:srgbClr val="1A2426"/>
                </a:solidFill>
                <a:latin typeface="Liberation Serif"/>
              </a:rPr>
              <a:t>One view of who owes you, and what to do next.</a:t>
            </a:r>
          </a:p>
        </p:txBody>
      </p:sp>
      <p:sp>
        <p:nvSpPr>
          <p:cNvPr id="5" name="TextBox 4"/>
          <p:cNvSpPr txBox="1"/>
          <p:nvPr/>
        </p:nvSpPr>
        <p:spPr>
          <a:xfrm>
            <a:off x="685800" y="2148840"/>
            <a:ext cx="1097280" cy="365760"/>
          </a:xfrm>
          <a:prstGeom prst="rect">
            <a:avLst/>
          </a:prstGeom>
          <a:noFill/>
        </p:spPr>
        <p:txBody>
          <a:bodyPr wrap="square">
            <a:spAutoFit/>
          </a:bodyPr>
          <a:lstStyle/>
          <a:p>
            <a:pPr algn="l">
              <a:lnSpc>
                <a:spcPct val="105000"/>
              </a:lnSpc>
              <a:spcBef>
                <a:spcPts val="0"/>
              </a:spcBef>
              <a:spcAft>
                <a:spcPts val="0"/>
              </a:spcAft>
            </a:pPr>
            <a:r>
              <a:rPr sz="1600" b="0" i="0">
                <a:solidFill>
                  <a:srgbClr val="C45C12"/>
                </a:solidFill>
                <a:latin typeface="Liberation Serif"/>
              </a:rPr>
              <a:t>01</a:t>
            </a:r>
          </a:p>
        </p:txBody>
      </p:sp>
      <p:sp>
        <p:nvSpPr>
          <p:cNvPr id="6" name="TextBox 5"/>
          <p:cNvSpPr txBox="1"/>
          <p:nvPr/>
        </p:nvSpPr>
        <p:spPr>
          <a:xfrm>
            <a:off x="1920240" y="2103120"/>
            <a:ext cx="8686800" cy="365760"/>
          </a:xfrm>
          <a:prstGeom prst="rect">
            <a:avLst/>
          </a:prstGeom>
          <a:noFill/>
        </p:spPr>
        <p:txBody>
          <a:bodyPr wrap="square">
            <a:spAutoFit/>
          </a:bodyPr>
          <a:lstStyle/>
          <a:p>
            <a:pPr algn="l">
              <a:lnSpc>
                <a:spcPct val="105000"/>
              </a:lnSpc>
              <a:spcBef>
                <a:spcPts val="0"/>
              </a:spcBef>
              <a:spcAft>
                <a:spcPts val="0"/>
              </a:spcAft>
            </a:pPr>
            <a:r>
              <a:rPr sz="2000" b="0" i="0">
                <a:solidFill>
                  <a:srgbClr val="1A2426"/>
                </a:solidFill>
                <a:latin typeface="Liberation Serif"/>
              </a:rPr>
              <a:t>Collections</a:t>
            </a:r>
          </a:p>
        </p:txBody>
      </p:sp>
      <p:sp>
        <p:nvSpPr>
          <p:cNvPr id="7" name="TextBox 6"/>
          <p:cNvSpPr txBox="1"/>
          <p:nvPr/>
        </p:nvSpPr>
        <p:spPr>
          <a:xfrm>
            <a:off x="1920240" y="2532888"/>
            <a:ext cx="8778240" cy="640080"/>
          </a:xfrm>
          <a:prstGeom prst="rect">
            <a:avLst/>
          </a:prstGeom>
          <a:noFill/>
        </p:spPr>
        <p:txBody>
          <a:bodyPr wrap="square">
            <a:spAutoFit/>
          </a:bodyPr>
          <a:lstStyle/>
          <a:p>
            <a:pPr algn="l">
              <a:lnSpc>
                <a:spcPct val="105000"/>
              </a:lnSpc>
              <a:spcBef>
                <a:spcPts val="0"/>
              </a:spcBef>
              <a:spcAft>
                <a:spcPts val="0"/>
              </a:spcAft>
            </a:pPr>
            <a:r>
              <a:rPr sz="1600" b="0" i="0">
                <a:solidFill>
                  <a:srgbClr val="5C6566"/>
                </a:solidFill>
                <a:latin typeface="Inter"/>
              </a:rPr>
              <a:t>The queue is ranked. Follow-ups go out without a clerk building the list each morning.</a:t>
            </a:r>
          </a:p>
        </p:txBody>
      </p:sp>
      <p:sp>
        <p:nvSpPr>
          <p:cNvPr id="8" name="TextBox 7"/>
          <p:cNvSpPr txBox="1"/>
          <p:nvPr/>
        </p:nvSpPr>
        <p:spPr>
          <a:xfrm>
            <a:off x="685800" y="3291840"/>
            <a:ext cx="1097280" cy="365760"/>
          </a:xfrm>
          <a:prstGeom prst="rect">
            <a:avLst/>
          </a:prstGeom>
          <a:noFill/>
        </p:spPr>
        <p:txBody>
          <a:bodyPr wrap="square">
            <a:spAutoFit/>
          </a:bodyPr>
          <a:lstStyle/>
          <a:p>
            <a:pPr algn="l">
              <a:lnSpc>
                <a:spcPct val="105000"/>
              </a:lnSpc>
              <a:spcBef>
                <a:spcPts val="0"/>
              </a:spcBef>
              <a:spcAft>
                <a:spcPts val="0"/>
              </a:spcAft>
            </a:pPr>
            <a:r>
              <a:rPr sz="1600" b="0" i="0">
                <a:solidFill>
                  <a:srgbClr val="C45C12"/>
                </a:solidFill>
                <a:latin typeface="Liberation Serif"/>
              </a:rPr>
              <a:t>02</a:t>
            </a:r>
          </a:p>
        </p:txBody>
      </p:sp>
      <p:sp>
        <p:nvSpPr>
          <p:cNvPr id="9" name="TextBox 8"/>
          <p:cNvSpPr txBox="1"/>
          <p:nvPr/>
        </p:nvSpPr>
        <p:spPr>
          <a:xfrm>
            <a:off x="1920240" y="3246120"/>
            <a:ext cx="8686800" cy="365760"/>
          </a:xfrm>
          <a:prstGeom prst="rect">
            <a:avLst/>
          </a:prstGeom>
          <a:noFill/>
        </p:spPr>
        <p:txBody>
          <a:bodyPr wrap="square">
            <a:spAutoFit/>
          </a:bodyPr>
          <a:lstStyle/>
          <a:p>
            <a:pPr algn="l">
              <a:lnSpc>
                <a:spcPct val="105000"/>
              </a:lnSpc>
              <a:spcBef>
                <a:spcPts val="0"/>
              </a:spcBef>
              <a:spcAft>
                <a:spcPts val="0"/>
              </a:spcAft>
            </a:pPr>
            <a:r>
              <a:rPr sz="2000" b="0" i="0">
                <a:solidFill>
                  <a:srgbClr val="1A2426"/>
                </a:solidFill>
                <a:latin typeface="Liberation Serif"/>
              </a:rPr>
              <a:t>Cash application</a:t>
            </a:r>
          </a:p>
        </p:txBody>
      </p:sp>
      <p:sp>
        <p:nvSpPr>
          <p:cNvPr id="10" name="TextBox 9"/>
          <p:cNvSpPr txBox="1"/>
          <p:nvPr/>
        </p:nvSpPr>
        <p:spPr>
          <a:xfrm>
            <a:off x="1920240" y="3675888"/>
            <a:ext cx="8778240" cy="640080"/>
          </a:xfrm>
          <a:prstGeom prst="rect">
            <a:avLst/>
          </a:prstGeom>
          <a:noFill/>
        </p:spPr>
        <p:txBody>
          <a:bodyPr wrap="square">
            <a:spAutoFit/>
          </a:bodyPr>
          <a:lstStyle/>
          <a:p>
            <a:pPr algn="l">
              <a:lnSpc>
                <a:spcPct val="105000"/>
              </a:lnSpc>
              <a:spcBef>
                <a:spcPts val="0"/>
              </a:spcBef>
              <a:spcAft>
                <a:spcPts val="0"/>
              </a:spcAft>
            </a:pPr>
            <a:r>
              <a:rPr sz="1600" b="0" i="0">
                <a:solidFill>
                  <a:srgbClr val="5C6566"/>
                </a:solidFill>
                <a:latin typeface="Inter"/>
              </a:rPr>
              <a:t>Remittances are picked up and matched to invoices, so cash application is not a Friday project.</a:t>
            </a:r>
          </a:p>
        </p:txBody>
      </p:sp>
      <p:sp>
        <p:nvSpPr>
          <p:cNvPr id="11" name="TextBox 10"/>
          <p:cNvSpPr txBox="1"/>
          <p:nvPr/>
        </p:nvSpPr>
        <p:spPr>
          <a:xfrm>
            <a:off x="685800" y="4434840"/>
            <a:ext cx="1097280" cy="365760"/>
          </a:xfrm>
          <a:prstGeom prst="rect">
            <a:avLst/>
          </a:prstGeom>
          <a:noFill/>
        </p:spPr>
        <p:txBody>
          <a:bodyPr wrap="square">
            <a:spAutoFit/>
          </a:bodyPr>
          <a:lstStyle/>
          <a:p>
            <a:pPr algn="l">
              <a:lnSpc>
                <a:spcPct val="105000"/>
              </a:lnSpc>
              <a:spcBef>
                <a:spcPts val="0"/>
              </a:spcBef>
              <a:spcAft>
                <a:spcPts val="0"/>
              </a:spcAft>
            </a:pPr>
            <a:r>
              <a:rPr sz="1600" b="0" i="0">
                <a:solidFill>
                  <a:srgbClr val="C45C12"/>
                </a:solidFill>
                <a:latin typeface="Liberation Serif"/>
              </a:rPr>
              <a:t>03</a:t>
            </a:r>
          </a:p>
        </p:txBody>
      </p:sp>
      <p:sp>
        <p:nvSpPr>
          <p:cNvPr id="12" name="TextBox 11"/>
          <p:cNvSpPr txBox="1"/>
          <p:nvPr/>
        </p:nvSpPr>
        <p:spPr>
          <a:xfrm>
            <a:off x="1920240" y="4389120"/>
            <a:ext cx="8686800" cy="365760"/>
          </a:xfrm>
          <a:prstGeom prst="rect">
            <a:avLst/>
          </a:prstGeom>
          <a:noFill/>
        </p:spPr>
        <p:txBody>
          <a:bodyPr wrap="square">
            <a:spAutoFit/>
          </a:bodyPr>
          <a:lstStyle/>
          <a:p>
            <a:pPr algn="l">
              <a:lnSpc>
                <a:spcPct val="105000"/>
              </a:lnSpc>
              <a:spcBef>
                <a:spcPts val="0"/>
              </a:spcBef>
              <a:spcAft>
                <a:spcPts val="0"/>
              </a:spcAft>
            </a:pPr>
            <a:r>
              <a:rPr sz="2000" b="0" i="0">
                <a:solidFill>
                  <a:srgbClr val="1A2426"/>
                </a:solidFill>
                <a:latin typeface="Liberation Serif"/>
              </a:rPr>
              <a:t>Credit</a:t>
            </a:r>
          </a:p>
        </p:txBody>
      </p:sp>
      <p:sp>
        <p:nvSpPr>
          <p:cNvPr id="13" name="TextBox 12"/>
          <p:cNvSpPr txBox="1"/>
          <p:nvPr/>
        </p:nvSpPr>
        <p:spPr>
          <a:xfrm>
            <a:off x="1920240" y="4818888"/>
            <a:ext cx="8778240" cy="640080"/>
          </a:xfrm>
          <a:prstGeom prst="rect">
            <a:avLst/>
          </a:prstGeom>
          <a:noFill/>
        </p:spPr>
        <p:txBody>
          <a:bodyPr wrap="square">
            <a:spAutoFit/>
          </a:bodyPr>
          <a:lstStyle/>
          <a:p>
            <a:pPr algn="l">
              <a:lnSpc>
                <a:spcPct val="105000"/>
              </a:lnSpc>
              <a:spcBef>
                <a:spcPts val="0"/>
              </a:spcBef>
              <a:spcAft>
                <a:spcPts val="0"/>
              </a:spcAft>
            </a:pPr>
            <a:r>
              <a:rPr sz="1600" b="0" i="0">
                <a:solidFill>
                  <a:srgbClr val="5C6566"/>
                </a:solidFill>
                <a:latin typeface="Inter"/>
              </a:rPr>
              <a:t>Customer risk is updated as invoices age, instead of living in a yearly review.</a:t>
            </a:r>
          </a:p>
        </p:txBody>
      </p:sp>
      <p:sp>
        <p:nvSpPr>
          <p:cNvPr id="14" name="TextBox 13"/>
          <p:cNvSpPr txBox="1"/>
          <p:nvPr/>
        </p:nvSpPr>
        <p:spPr>
          <a:xfrm>
            <a:off x="685800" y="5715000"/>
            <a:ext cx="10058400" cy="365760"/>
          </a:xfrm>
          <a:prstGeom prst="rect">
            <a:avLst/>
          </a:prstGeom>
          <a:noFill/>
        </p:spPr>
        <p:txBody>
          <a:bodyPr wrap="square">
            <a:spAutoFit/>
          </a:bodyPr>
          <a:lstStyle/>
          <a:p>
            <a:pPr algn="l">
              <a:lnSpc>
                <a:spcPct val="105000"/>
              </a:lnSpc>
              <a:spcBef>
                <a:spcPts val="0"/>
              </a:spcBef>
              <a:spcAft>
                <a:spcPts val="0"/>
              </a:spcAft>
            </a:pPr>
            <a:r>
              <a:rPr sz="1600" b="0" i="0">
                <a:solidFill>
                  <a:srgbClr val="1A2426"/>
                </a:solidFill>
                <a:latin typeface="Inter"/>
              </a:rPr>
              <a:t>The point is a shorter collection cycle and fewer surprises in bad debt.</a:t>
            </a:r>
          </a:p>
        </p:txBody>
      </p:sp>
      <p:sp>
        <p:nvSpPr>
          <p:cNvPr id="15" name="TextBox 14"/>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16" name="TextBox 15"/>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0644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4846320" cy="27432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Payables</a:t>
            </a:r>
          </a:p>
        </p:txBody>
      </p:sp>
      <p:sp>
        <p:nvSpPr>
          <p:cNvPr id="5" name="TextBox 4"/>
          <p:cNvSpPr txBox="1"/>
          <p:nvPr/>
        </p:nvSpPr>
        <p:spPr>
          <a:xfrm>
            <a:off x="548640" y="914400"/>
            <a:ext cx="4846320" cy="1280160"/>
          </a:xfrm>
          <a:prstGeom prst="rect">
            <a:avLst/>
          </a:prstGeom>
          <a:noFill/>
        </p:spPr>
        <p:txBody>
          <a:bodyPr wrap="square">
            <a:spAutoFit/>
          </a:bodyPr>
          <a:lstStyle/>
          <a:p>
            <a:pPr algn="l">
              <a:lnSpc>
                <a:spcPct val="95000"/>
              </a:lnSpc>
              <a:spcBef>
                <a:spcPts val="0"/>
              </a:spcBef>
              <a:spcAft>
                <a:spcPts val="0"/>
              </a:spcAft>
            </a:pPr>
            <a:r>
              <a:rPr sz="3000" b="0" i="0">
                <a:solidFill>
                  <a:srgbClr val="1A2426"/>
                </a:solidFill>
                <a:latin typeface="Liberation Serif"/>
              </a:rPr>
              <a:t>Bills, approvals,
and when you pay.</a:t>
            </a:r>
          </a:p>
        </p:txBody>
      </p:sp>
      <p:sp>
        <p:nvSpPr>
          <p:cNvPr id="6" name="TextBox 5"/>
          <p:cNvSpPr txBox="1"/>
          <p:nvPr/>
        </p:nvSpPr>
        <p:spPr>
          <a:xfrm>
            <a:off x="548640" y="2606040"/>
            <a:ext cx="4754880" cy="2926080"/>
          </a:xfrm>
          <a:prstGeom prst="rect">
            <a:avLst/>
          </a:prstGeom>
          <a:noFill/>
        </p:spPr>
        <p:txBody>
          <a:bodyPr wrap="square">
            <a:spAutoFit/>
          </a:bodyPr>
          <a:lstStyle/>
          <a:p>
            <a:pPr algn="l">
              <a:lnSpc>
                <a:spcPct val="115000"/>
              </a:lnSpc>
              <a:spcBef>
                <a:spcPts val="0"/>
              </a:spcBef>
              <a:spcAft>
                <a:spcPts val="0"/>
              </a:spcAft>
            </a:pPr>
            <a:r>
              <a:rPr sz="1600" b="0" i="0">
                <a:solidFill>
                  <a:srgbClr val="5C6566"/>
                </a:solidFill>
                <a:latin typeface="Inter"/>
              </a:rPr>
              <a:t>Invoices are captured and matched, including 2-way and 3-way match where the purchase order exists.</a:t>
            </a:r>
          </a:p>
          <a:p>
            <a:pPr algn="l">
              <a:lnSpc>
                <a:spcPct val="115000"/>
              </a:lnSpc>
              <a:spcBef>
                <a:spcPts val="1000"/>
              </a:spcBef>
              <a:spcAft>
                <a:spcPts val="0"/>
              </a:spcAft>
            </a:pPr>
            <a:r>
              <a:rPr sz="1600" b="0" i="0">
                <a:solidFill>
                  <a:srgbClr val="5C6566"/>
                </a:solidFill>
                <a:latin typeface="Inter"/>
              </a:rPr>
              <a:t>Approvals follow the company’s own rules, not a side mailbox.</a:t>
            </a:r>
          </a:p>
          <a:p>
            <a:pPr algn="l">
              <a:lnSpc>
                <a:spcPct val="115000"/>
              </a:lnSpc>
              <a:spcBef>
                <a:spcPts val="1000"/>
              </a:spcBef>
              <a:spcAft>
                <a:spcPts val="0"/>
              </a:spcAft>
            </a:pPr>
            <a:r>
              <a:rPr sz="1600" b="0" i="0">
                <a:solidFill>
                  <a:srgbClr val="5C6566"/>
                </a:solidFill>
                <a:latin typeface="Inter"/>
              </a:rPr>
              <a:t>Payment timing and currency are chosen on purpose, so cash is not given up early by default.</a:t>
            </a:r>
          </a:p>
        </p:txBody>
      </p:sp>
      <p:sp>
        <p:nvSpPr>
          <p:cNvPr id="7" name="TextBox 6"/>
          <p:cNvSpPr txBox="1"/>
          <p:nvPr/>
        </p:nvSpPr>
        <p:spPr>
          <a:xfrm>
            <a:off x="6309360" y="457200"/>
            <a:ext cx="5120640" cy="27432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Treasury</a:t>
            </a:r>
          </a:p>
        </p:txBody>
      </p:sp>
      <p:sp>
        <p:nvSpPr>
          <p:cNvPr id="8" name="TextBox 7"/>
          <p:cNvSpPr txBox="1"/>
          <p:nvPr/>
        </p:nvSpPr>
        <p:spPr>
          <a:xfrm>
            <a:off x="6309360" y="914400"/>
            <a:ext cx="5120640" cy="1371600"/>
          </a:xfrm>
          <a:prstGeom prst="rect">
            <a:avLst/>
          </a:prstGeom>
          <a:noFill/>
        </p:spPr>
        <p:txBody>
          <a:bodyPr wrap="square">
            <a:spAutoFit/>
          </a:bodyPr>
          <a:lstStyle/>
          <a:p>
            <a:pPr algn="l">
              <a:lnSpc>
                <a:spcPct val="95000"/>
              </a:lnSpc>
              <a:spcBef>
                <a:spcPts val="0"/>
              </a:spcBef>
              <a:spcAft>
                <a:spcPts val="0"/>
              </a:spcAft>
            </a:pPr>
            <a:r>
              <a:rPr sz="3000" b="0" i="0">
                <a:solidFill>
                  <a:srgbClr val="1A2426"/>
                </a:solidFill>
                <a:latin typeface="Liberation Serif"/>
              </a:rPr>
              <a:t>Where the cash is,
before the close.</a:t>
            </a:r>
          </a:p>
        </p:txBody>
      </p:sp>
      <p:sp>
        <p:nvSpPr>
          <p:cNvPr id="9" name="TextBox 8"/>
          <p:cNvSpPr txBox="1"/>
          <p:nvPr/>
        </p:nvSpPr>
        <p:spPr>
          <a:xfrm>
            <a:off x="6309360" y="2606040"/>
            <a:ext cx="5120640" cy="2926080"/>
          </a:xfrm>
          <a:prstGeom prst="rect">
            <a:avLst/>
          </a:prstGeom>
          <a:noFill/>
        </p:spPr>
        <p:txBody>
          <a:bodyPr wrap="square">
            <a:spAutoFit/>
          </a:bodyPr>
          <a:lstStyle/>
          <a:p>
            <a:pPr algn="l">
              <a:lnSpc>
                <a:spcPct val="115000"/>
              </a:lnSpc>
              <a:spcBef>
                <a:spcPts val="0"/>
              </a:spcBef>
              <a:spcAft>
                <a:spcPts val="0"/>
              </a:spcAft>
            </a:pPr>
            <a:r>
              <a:rPr sz="1600" b="0" i="0">
                <a:solidFill>
                  <a:srgbClr val="5C6566"/>
                </a:solidFill>
                <a:latin typeface="Inter"/>
              </a:rPr>
              <a:t>Balances across accounts, entities, and currencies, rather than one exported file per bank.</a:t>
            </a:r>
          </a:p>
          <a:p>
            <a:pPr algn="l">
              <a:lnSpc>
                <a:spcPct val="115000"/>
              </a:lnSpc>
              <a:spcBef>
                <a:spcPts val="1000"/>
              </a:spcBef>
              <a:spcAft>
                <a:spcPts val="0"/>
              </a:spcAft>
            </a:pPr>
            <a:r>
              <a:rPr sz="1600" b="0" i="0">
                <a:solidFill>
                  <a:srgbClr val="5C6566"/>
                </a:solidFill>
                <a:latin typeface="Inter"/>
              </a:rPr>
              <a:t>Gaps in liquidity show up while there is still time to do something about them.</a:t>
            </a:r>
          </a:p>
          <a:p>
            <a:pPr algn="l">
              <a:lnSpc>
                <a:spcPct val="115000"/>
              </a:lnSpc>
              <a:spcBef>
                <a:spcPts val="1000"/>
              </a:spcBef>
              <a:spcAft>
                <a:spcPts val="0"/>
              </a:spcAft>
            </a:pPr>
            <a:r>
              <a:rPr sz="1600" b="0" i="0">
                <a:solidFill>
                  <a:srgbClr val="5C6566"/>
                </a:solidFill>
                <a:latin typeface="Inter"/>
              </a:rPr>
              <a:t>Domestic and cross-border payments, with the FX rate treated as part of the decision.</a:t>
            </a:r>
          </a:p>
        </p:txBody>
      </p:sp>
      <p:sp>
        <p:nvSpPr>
          <p:cNvPr id="10" name="TextBox 9"/>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11" name="TextBox 10"/>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Getting started</a:t>
            </a:r>
          </a:p>
        </p:txBody>
      </p:sp>
      <p:sp>
        <p:nvSpPr>
          <p:cNvPr id="4" name="TextBox 3"/>
          <p:cNvSpPr txBox="1"/>
          <p:nvPr/>
        </p:nvSpPr>
        <p:spPr>
          <a:xfrm>
            <a:off x="685800" y="868680"/>
            <a:ext cx="10058400" cy="1097280"/>
          </a:xfrm>
          <a:prstGeom prst="rect">
            <a:avLst/>
          </a:prstGeom>
          <a:noFill/>
        </p:spPr>
        <p:txBody>
          <a:bodyPr wrap="square">
            <a:spAutoFit/>
          </a:bodyPr>
          <a:lstStyle/>
          <a:p>
            <a:pPr algn="l">
              <a:lnSpc>
                <a:spcPct val="105000"/>
              </a:lnSpc>
              <a:spcBef>
                <a:spcPts val="0"/>
              </a:spcBef>
              <a:spcAft>
                <a:spcPts val="0"/>
              </a:spcAft>
            </a:pPr>
            <a:r>
              <a:rPr sz="3400" b="0" i="0">
                <a:solidFill>
                  <a:srgbClr val="1A2426"/>
                </a:solidFill>
                <a:latin typeface="Liberation Serif"/>
              </a:rPr>
              <a:t>Weeks, not a new ERP project.</a:t>
            </a:r>
          </a:p>
        </p:txBody>
      </p:sp>
      <p:sp>
        <p:nvSpPr>
          <p:cNvPr id="5" name="Rectangle 4"/>
          <p:cNvSpPr/>
          <p:nvPr/>
        </p:nvSpPr>
        <p:spPr>
          <a:xfrm>
            <a:off x="685800" y="2468880"/>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33472"/>
            <a:ext cx="2103120" cy="640080"/>
          </a:xfrm>
          <a:prstGeom prst="rect">
            <a:avLst/>
          </a:prstGeom>
          <a:noFill/>
        </p:spPr>
        <p:txBody>
          <a:bodyPr wrap="square">
            <a:spAutoFit/>
          </a:bodyPr>
          <a:lstStyle/>
          <a:p>
            <a:pPr algn="l">
              <a:lnSpc>
                <a:spcPct val="105000"/>
              </a:lnSpc>
              <a:spcBef>
                <a:spcPts val="0"/>
              </a:spcBef>
              <a:spcAft>
                <a:spcPts val="0"/>
              </a:spcAft>
            </a:pPr>
            <a:r>
              <a:rPr sz="2000" b="0" i="0">
                <a:solidFill>
                  <a:srgbClr val="1A2426"/>
                </a:solidFill>
                <a:latin typeface="Liberation Serif"/>
              </a:rPr>
              <a:t>First</a:t>
            </a:r>
          </a:p>
        </p:txBody>
      </p:sp>
      <p:sp>
        <p:nvSpPr>
          <p:cNvPr id="7" name="TextBox 6"/>
          <p:cNvSpPr txBox="1"/>
          <p:nvPr/>
        </p:nvSpPr>
        <p:spPr>
          <a:xfrm>
            <a:off x="3017520" y="2670048"/>
            <a:ext cx="8412480" cy="777240"/>
          </a:xfrm>
          <a:prstGeom prst="rect">
            <a:avLst/>
          </a:prstGeom>
          <a:noFill/>
        </p:spPr>
        <p:txBody>
          <a:bodyPr wrap="square">
            <a:spAutoFit/>
          </a:bodyPr>
          <a:lstStyle/>
          <a:p>
            <a:pPr algn="l">
              <a:lnSpc>
                <a:spcPct val="110000"/>
              </a:lnSpc>
              <a:spcBef>
                <a:spcPts val="0"/>
              </a:spcBef>
              <a:spcAft>
                <a:spcPts val="0"/>
              </a:spcAft>
            </a:pPr>
            <a:r>
              <a:rPr sz="1600" b="0" i="0">
                <a:solidFill>
                  <a:srgbClr val="5C6566"/>
                </a:solidFill>
                <a:latin typeface="Inter"/>
              </a:rPr>
              <a:t>Connect the ERP, the accounting system, and the banks. People keep working in the tools they already have.</a:t>
            </a:r>
          </a:p>
        </p:txBody>
      </p:sp>
      <p:sp>
        <p:nvSpPr>
          <p:cNvPr id="8" name="Rectangle 7"/>
          <p:cNvSpPr/>
          <p:nvPr/>
        </p:nvSpPr>
        <p:spPr>
          <a:xfrm>
            <a:off x="685800" y="3611880"/>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776472"/>
            <a:ext cx="2103120" cy="640080"/>
          </a:xfrm>
          <a:prstGeom prst="rect">
            <a:avLst/>
          </a:prstGeom>
          <a:noFill/>
        </p:spPr>
        <p:txBody>
          <a:bodyPr wrap="square">
            <a:spAutoFit/>
          </a:bodyPr>
          <a:lstStyle/>
          <a:p>
            <a:pPr algn="l">
              <a:lnSpc>
                <a:spcPct val="105000"/>
              </a:lnSpc>
              <a:spcBef>
                <a:spcPts val="0"/>
              </a:spcBef>
              <a:spcAft>
                <a:spcPts val="0"/>
              </a:spcAft>
            </a:pPr>
            <a:r>
              <a:rPr sz="2000" b="0" i="0">
                <a:solidFill>
                  <a:srgbClr val="1A2426"/>
                </a:solidFill>
                <a:latin typeface="Liberation Serif"/>
              </a:rPr>
              <a:t>Then</a:t>
            </a:r>
          </a:p>
        </p:txBody>
      </p:sp>
      <p:sp>
        <p:nvSpPr>
          <p:cNvPr id="10" name="TextBox 9"/>
          <p:cNvSpPr txBox="1"/>
          <p:nvPr/>
        </p:nvSpPr>
        <p:spPr>
          <a:xfrm>
            <a:off x="3017520" y="3813048"/>
            <a:ext cx="8412480" cy="777240"/>
          </a:xfrm>
          <a:prstGeom prst="rect">
            <a:avLst/>
          </a:prstGeom>
          <a:noFill/>
        </p:spPr>
        <p:txBody>
          <a:bodyPr wrap="square">
            <a:spAutoFit/>
          </a:bodyPr>
          <a:lstStyle/>
          <a:p>
            <a:pPr algn="l">
              <a:lnSpc>
                <a:spcPct val="110000"/>
              </a:lnSpc>
              <a:spcBef>
                <a:spcPts val="0"/>
              </a:spcBef>
              <a:spcAft>
                <a:spcPts val="0"/>
              </a:spcAft>
            </a:pPr>
            <a:r>
              <a:rPr sz="1600" b="0" i="0">
                <a:solidFill>
                  <a:srgbClr val="5C6566"/>
                </a:solidFill>
                <a:latin typeface="Inter"/>
              </a:rPr>
              <a:t>Put in the rules the team already uses for payment, reconciliation, and who gets chased.</a:t>
            </a:r>
          </a:p>
        </p:txBody>
      </p:sp>
      <p:sp>
        <p:nvSpPr>
          <p:cNvPr id="11" name="Rectangle 10"/>
          <p:cNvSpPr/>
          <p:nvPr/>
        </p:nvSpPr>
        <p:spPr>
          <a:xfrm>
            <a:off x="685800" y="4754880"/>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919472"/>
            <a:ext cx="2103120" cy="640080"/>
          </a:xfrm>
          <a:prstGeom prst="rect">
            <a:avLst/>
          </a:prstGeom>
          <a:noFill/>
        </p:spPr>
        <p:txBody>
          <a:bodyPr wrap="square">
            <a:spAutoFit/>
          </a:bodyPr>
          <a:lstStyle/>
          <a:p>
            <a:pPr algn="l">
              <a:lnSpc>
                <a:spcPct val="105000"/>
              </a:lnSpc>
              <a:spcBef>
                <a:spcPts val="0"/>
              </a:spcBef>
              <a:spcAft>
                <a:spcPts val="0"/>
              </a:spcAft>
            </a:pPr>
            <a:r>
              <a:rPr sz="2000" b="0" i="0">
                <a:solidFill>
                  <a:srgbClr val="1A2426"/>
                </a:solidFill>
                <a:latin typeface="Liberation Serif"/>
              </a:rPr>
              <a:t>After that</a:t>
            </a:r>
          </a:p>
        </p:txBody>
      </p:sp>
      <p:sp>
        <p:nvSpPr>
          <p:cNvPr id="13" name="TextBox 12"/>
          <p:cNvSpPr txBox="1"/>
          <p:nvPr/>
        </p:nvSpPr>
        <p:spPr>
          <a:xfrm>
            <a:off x="3017520" y="4956048"/>
            <a:ext cx="8412480" cy="777240"/>
          </a:xfrm>
          <a:prstGeom prst="rect">
            <a:avLst/>
          </a:prstGeom>
          <a:noFill/>
        </p:spPr>
        <p:txBody>
          <a:bodyPr wrap="square">
            <a:spAutoFit/>
          </a:bodyPr>
          <a:lstStyle/>
          <a:p>
            <a:pPr algn="l">
              <a:lnSpc>
                <a:spcPct val="110000"/>
              </a:lnSpc>
              <a:spcBef>
                <a:spcPts val="0"/>
              </a:spcBef>
              <a:spcAft>
                <a:spcPts val="0"/>
              </a:spcAft>
            </a:pPr>
            <a:r>
              <a:rPr sz="1600" b="0" i="0">
                <a:solidFill>
                  <a:srgbClr val="5C6566"/>
                </a:solidFill>
                <a:latin typeface="Inter"/>
              </a:rPr>
              <a:t>The workflows run. Collections, matching, and the cash view keep updating without a new monthly project.</a:t>
            </a:r>
          </a:p>
        </p:txBody>
      </p:sp>
      <p:sp>
        <p:nvSpPr>
          <p:cNvPr id="14" name="TextBox 13"/>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15" name="TextBox 14"/>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058400" cy="27432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Who this is for</a:t>
            </a:r>
          </a:p>
        </p:txBody>
      </p:sp>
      <p:sp>
        <p:nvSpPr>
          <p:cNvPr id="4" name="TextBox 3"/>
          <p:cNvSpPr txBox="1"/>
          <p:nvPr/>
        </p:nvSpPr>
        <p:spPr>
          <a:xfrm>
            <a:off x="685800" y="1005840"/>
            <a:ext cx="10241280" cy="1828800"/>
          </a:xfrm>
          <a:prstGeom prst="rect">
            <a:avLst/>
          </a:prstGeom>
          <a:noFill/>
        </p:spPr>
        <p:txBody>
          <a:bodyPr wrap="square">
            <a:spAutoFit/>
          </a:bodyPr>
          <a:lstStyle/>
          <a:p>
            <a:pPr algn="l">
              <a:lnSpc>
                <a:spcPct val="98000"/>
              </a:lnSpc>
              <a:spcBef>
                <a:spcPts val="0"/>
              </a:spcBef>
              <a:spcAft>
                <a:spcPts val="0"/>
              </a:spcAft>
            </a:pPr>
            <a:r>
              <a:rPr sz="3400" b="0" i="0">
                <a:solidFill>
                  <a:srgbClr val="1A2426"/>
                </a:solidFill>
                <a:latin typeface="Liberation Serif"/>
              </a:rPr>
              <a:t>A small finance team with a real ERP
and too much work around it.</a:t>
            </a:r>
          </a:p>
        </p:txBody>
      </p:sp>
      <p:sp>
        <p:nvSpPr>
          <p:cNvPr id="5" name="TextBox 4"/>
          <p:cNvSpPr txBox="1"/>
          <p:nvPr/>
        </p:nvSpPr>
        <p:spPr>
          <a:xfrm>
            <a:off x="685800" y="3200400"/>
            <a:ext cx="9875520" cy="2194560"/>
          </a:xfrm>
          <a:prstGeom prst="rect">
            <a:avLst/>
          </a:prstGeom>
          <a:noFill/>
        </p:spPr>
        <p:txBody>
          <a:bodyPr wrap="square">
            <a:spAutoFit/>
          </a:bodyPr>
          <a:lstStyle/>
          <a:p>
            <a:pPr algn="l">
              <a:lnSpc>
                <a:spcPct val="120000"/>
              </a:lnSpc>
              <a:spcBef>
                <a:spcPts val="0"/>
              </a:spcBef>
              <a:spcAft>
                <a:spcPts val="0"/>
              </a:spcAft>
            </a:pPr>
            <a:r>
              <a:rPr sz="1800" b="0" i="0">
                <a:solidFill>
                  <a:srgbClr val="5C6566"/>
                </a:solidFill>
                <a:latin typeface="Inter"/>
              </a:rPr>
              <a:t>Usually a controller, sometimes the CFO. More than one entity is common. They are not looking for another general ledger. They want the collection calls, the invoice match, and the cash position handled without hiring for it.</a:t>
            </a:r>
          </a:p>
        </p:txBody>
      </p:sp>
      <p:sp>
        <p:nvSpPr>
          <p:cNvPr id="6" name="TextBox 5"/>
          <p:cNvSpPr txBox="1"/>
          <p:nvPr/>
        </p:nvSpPr>
        <p:spPr>
          <a:xfrm>
            <a:off x="685800" y="5212080"/>
            <a:ext cx="9875520" cy="731520"/>
          </a:xfrm>
          <a:prstGeom prst="rect">
            <a:avLst/>
          </a:prstGeom>
          <a:noFill/>
        </p:spPr>
        <p:txBody>
          <a:bodyPr wrap="square">
            <a:spAutoFit/>
          </a:bodyPr>
          <a:lstStyle/>
          <a:p>
            <a:pPr algn="l">
              <a:lnSpc>
                <a:spcPct val="115000"/>
              </a:lnSpc>
              <a:spcBef>
                <a:spcPts val="0"/>
              </a:spcBef>
              <a:spcAft>
                <a:spcPts val="0"/>
              </a:spcAft>
            </a:pPr>
            <a:r>
              <a:rPr sz="1800" b="0" i="0">
                <a:solidFill>
                  <a:srgbClr val="1A2426"/>
                </a:solidFill>
                <a:latin typeface="Inter"/>
              </a:rPr>
              <a:t>If the team is still on spreadsheets for everything, this is early for them. If the ERP is in and the cash work is still manual, it fits.</a:t>
            </a:r>
          </a:p>
        </p:txBody>
      </p:sp>
      <p:sp>
        <p:nvSpPr>
          <p:cNvPr id="7" name="TextBox 6"/>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8" name="TextBox 7"/>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Systems and pricing</a:t>
            </a:r>
          </a:p>
        </p:txBody>
      </p:sp>
      <p:sp>
        <p:nvSpPr>
          <p:cNvPr id="4" name="TextBox 3"/>
          <p:cNvSpPr txBox="1"/>
          <p:nvPr/>
        </p:nvSpPr>
        <p:spPr>
          <a:xfrm>
            <a:off x="685800" y="914400"/>
            <a:ext cx="10515600" cy="1188720"/>
          </a:xfrm>
          <a:prstGeom prst="rect">
            <a:avLst/>
          </a:prstGeom>
          <a:noFill/>
        </p:spPr>
        <p:txBody>
          <a:bodyPr wrap="square">
            <a:spAutoFit/>
          </a:bodyPr>
          <a:lstStyle/>
          <a:p>
            <a:pPr algn="l">
              <a:lnSpc>
                <a:spcPct val="98000"/>
              </a:lnSpc>
              <a:spcBef>
                <a:spcPts val="0"/>
              </a:spcBef>
              <a:spcAft>
                <a:spcPts val="0"/>
              </a:spcAft>
            </a:pPr>
            <a:r>
              <a:rPr sz="3200" b="0" i="0">
                <a:solidFill>
                  <a:srgbClr val="1A2426"/>
                </a:solidFill>
                <a:latin typeface="Liberation Serif"/>
              </a:rPr>
              <a:t>It connects to the systems
already on the finance stack.</a:t>
            </a:r>
          </a:p>
        </p:txBody>
      </p:sp>
      <p:sp>
        <p:nvSpPr>
          <p:cNvPr id="5" name="TextBox 4"/>
          <p:cNvSpPr txBox="1"/>
          <p:nvPr/>
        </p:nvSpPr>
        <p:spPr>
          <a:xfrm>
            <a:off x="685800" y="2468880"/>
            <a:ext cx="10058400" cy="1005840"/>
          </a:xfrm>
          <a:prstGeom prst="rect">
            <a:avLst/>
          </a:prstGeom>
          <a:noFill/>
        </p:spPr>
        <p:txBody>
          <a:bodyPr wrap="square">
            <a:spAutoFit/>
          </a:bodyPr>
          <a:lstStyle/>
          <a:p>
            <a:pPr algn="l">
              <a:lnSpc>
                <a:spcPct val="125000"/>
              </a:lnSpc>
              <a:spcBef>
                <a:spcPts val="0"/>
              </a:spcBef>
              <a:spcAft>
                <a:spcPts val="0"/>
              </a:spcAft>
            </a:pPr>
            <a:r>
              <a:rPr sz="2000" b="0" i="0">
                <a:solidFill>
                  <a:srgbClr val="1A2426"/>
                </a:solidFill>
                <a:latin typeface="Inter"/>
              </a:rPr>
              <a:t>NetSuite    Dynamics 365    QuickBooks    Sage
Zoho Books    Zuora    Exact    SWIFT</a:t>
            </a:r>
          </a:p>
        </p:txBody>
      </p:sp>
      <p:sp>
        <p:nvSpPr>
          <p:cNvPr id="6" name="TextBox 5"/>
          <p:cNvSpPr txBox="1"/>
          <p:nvPr/>
        </p:nvSpPr>
        <p:spPr>
          <a:xfrm>
            <a:off x="685800" y="3703320"/>
            <a:ext cx="9601200" cy="640080"/>
          </a:xfrm>
          <a:prstGeom prst="rect">
            <a:avLst/>
          </a:prstGeom>
          <a:noFill/>
        </p:spPr>
        <p:txBody>
          <a:bodyPr wrap="square">
            <a:spAutoFit/>
          </a:bodyPr>
          <a:lstStyle/>
          <a:p>
            <a:pPr algn="l">
              <a:lnSpc>
                <a:spcPct val="115000"/>
              </a:lnSpc>
              <a:spcBef>
                <a:spcPts val="0"/>
              </a:spcBef>
              <a:spcAft>
                <a:spcPts val="0"/>
              </a:spcAft>
            </a:pPr>
            <a:r>
              <a:rPr sz="1600" b="0" i="0">
                <a:solidFill>
                  <a:srgbClr val="5C6566"/>
                </a:solidFill>
                <a:latin typeface="Inter"/>
              </a:rPr>
              <a:t>Anything off that list is a custom connection. We do that during onboarding, not as a six-month integration project.</a:t>
            </a:r>
          </a:p>
        </p:txBody>
      </p:sp>
      <p:sp>
        <p:nvSpPr>
          <p:cNvPr id="7" name="Rectangle 6"/>
          <p:cNvSpPr/>
          <p:nvPr/>
        </p:nvSpPr>
        <p:spPr>
          <a:xfrm>
            <a:off x="685800" y="4572000"/>
            <a:ext cx="10789920" cy="9525"/>
          </a:xfrm>
          <a:prstGeom prst="rect">
            <a:avLst/>
          </a:prstGeom>
          <a:solidFill>
            <a:srgbClr val="D8D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800600"/>
            <a:ext cx="10058400" cy="1097280"/>
          </a:xfrm>
          <a:prstGeom prst="rect">
            <a:avLst/>
          </a:prstGeom>
          <a:noFill/>
        </p:spPr>
        <p:txBody>
          <a:bodyPr wrap="square">
            <a:spAutoFit/>
          </a:bodyPr>
          <a:lstStyle/>
          <a:p>
            <a:pPr algn="l">
              <a:lnSpc>
                <a:spcPct val="105000"/>
              </a:lnSpc>
              <a:spcBef>
                <a:spcPts val="0"/>
              </a:spcBef>
              <a:spcAft>
                <a:spcPts val="0"/>
              </a:spcAft>
            </a:pPr>
            <a:r>
              <a:rPr sz="1400" b="0" i="0">
                <a:solidFill>
                  <a:srgbClr val="C45C12"/>
                </a:solidFill>
                <a:latin typeface="Inter"/>
              </a:rPr>
              <a:t>Pricing</a:t>
            </a:r>
          </a:p>
          <a:p>
            <a:pPr algn="l">
              <a:lnSpc>
                <a:spcPct val="115000"/>
              </a:lnSpc>
              <a:spcBef>
                <a:spcPts val="600"/>
              </a:spcBef>
              <a:spcAft>
                <a:spcPts val="0"/>
              </a:spcAft>
            </a:pPr>
            <a:r>
              <a:rPr sz="1800" b="0" i="0">
                <a:solidFill>
                  <a:srgbClr val="1A2426"/>
                </a:solidFill>
                <a:latin typeface="Inter"/>
              </a:rPr>
              <a:t>Start on a trial. Pay when the cash cycle is actually moving. Onboarding is guided, and a normal go-live is measured in weeks.</a:t>
            </a:r>
          </a:p>
        </p:txBody>
      </p:sp>
      <p:sp>
        <p:nvSpPr>
          <p:cNvPr id="9" name="TextBox 8"/>
          <p:cNvSpPr txBox="1"/>
          <p:nvPr/>
        </p:nvSpPr>
        <p:spPr>
          <a:xfrm>
            <a:off x="640080" y="6446520"/>
            <a:ext cx="7315200" cy="256032"/>
          </a:xfrm>
          <a:prstGeom prst="rect">
            <a:avLst/>
          </a:prstGeom>
          <a:noFill/>
        </p:spPr>
        <p:txBody>
          <a:bodyPr wrap="square">
            <a:spAutoFit/>
          </a:bodyPr>
          <a:lstStyle/>
          <a:p>
            <a:pPr algn="l">
              <a:lnSpc>
                <a:spcPct val="105000"/>
              </a:lnSpc>
              <a:spcBef>
                <a:spcPts val="0"/>
              </a:spcBef>
              <a:spcAft>
                <a:spcPts val="0"/>
              </a:spcAft>
            </a:pPr>
            <a:r>
              <a:rPr sz="1100" b="0" i="0">
                <a:solidFill>
                  <a:srgbClr val="5C6566"/>
                </a:solidFill>
                <a:latin typeface="Inter"/>
              </a:rPr>
              <a:t>opencfo.tech</a:t>
            </a:r>
          </a:p>
        </p:txBody>
      </p:sp>
      <p:sp>
        <p:nvSpPr>
          <p:cNvPr id="10" name="TextBox 9"/>
          <p:cNvSpPr txBox="1"/>
          <p:nvPr/>
        </p:nvSpPr>
        <p:spPr>
          <a:xfrm>
            <a:off x="9326880" y="6446520"/>
            <a:ext cx="2194560" cy="256032"/>
          </a:xfrm>
          <a:prstGeom prst="rect">
            <a:avLst/>
          </a:prstGeom>
          <a:noFill/>
        </p:spPr>
        <p:txBody>
          <a:bodyPr wrap="square">
            <a:spAutoFit/>
          </a:bodyPr>
          <a:lstStyle/>
          <a:p>
            <a:pPr algn="r">
              <a:lnSpc>
                <a:spcPct val="105000"/>
              </a:lnSpc>
              <a:spcBef>
                <a:spcPts val="0"/>
              </a:spcBef>
              <a:spcAft>
                <a:spcPts val="0"/>
              </a:spcAft>
            </a:pPr>
            <a:r>
              <a:rPr sz="1100" b="0" i="0">
                <a:solidFill>
                  <a:srgbClr val="5C6566"/>
                </a:solidFill>
                <a:latin typeface="Inter"/>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554480"/>
            <a:ext cx="1051560" cy="38100"/>
          </a:xfrm>
          <a:prstGeom prst="rect">
            <a:avLst/>
          </a:prstGeom>
          <a:solidFill>
            <a:srgbClr val="C45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0058400" cy="1645920"/>
          </a:xfrm>
          <a:prstGeom prst="rect">
            <a:avLst/>
          </a:prstGeom>
          <a:noFill/>
        </p:spPr>
        <p:txBody>
          <a:bodyPr wrap="square">
            <a:spAutoFit/>
          </a:bodyPr>
          <a:lstStyle/>
          <a:p>
            <a:pPr algn="l">
              <a:lnSpc>
                <a:spcPct val="98000"/>
              </a:lnSpc>
              <a:spcBef>
                <a:spcPts val="0"/>
              </a:spcBef>
              <a:spcAft>
                <a:spcPts val="0"/>
              </a:spcAft>
            </a:pPr>
            <a:r>
              <a:rPr sz="3600" b="0" i="0">
                <a:solidFill>
                  <a:srgbClr val="FFFCF7"/>
                </a:solidFill>
                <a:latin typeface="Liberation Serif"/>
              </a:rPr>
              <a:t>If the cash work is still
manual, we should talk.</a:t>
            </a:r>
          </a:p>
        </p:txBody>
      </p:sp>
      <p:sp>
        <p:nvSpPr>
          <p:cNvPr id="5" name="TextBox 4"/>
          <p:cNvSpPr txBox="1"/>
          <p:nvPr/>
        </p:nvSpPr>
        <p:spPr>
          <a:xfrm>
            <a:off x="731520" y="3931920"/>
            <a:ext cx="7315200" cy="1097280"/>
          </a:xfrm>
          <a:prstGeom prst="rect">
            <a:avLst/>
          </a:prstGeom>
          <a:noFill/>
        </p:spPr>
        <p:txBody>
          <a:bodyPr wrap="square">
            <a:spAutoFit/>
          </a:bodyPr>
          <a:lstStyle/>
          <a:p>
            <a:pPr algn="l">
              <a:lnSpc>
                <a:spcPct val="115000"/>
              </a:lnSpc>
              <a:spcBef>
                <a:spcPts val="0"/>
              </a:spcBef>
              <a:spcAft>
                <a:spcPts val="0"/>
              </a:spcAft>
            </a:pPr>
            <a:r>
              <a:rPr sz="1800" b="0" i="0">
                <a:solidFill>
                  <a:srgbClr val="C9D0CE"/>
                </a:solidFill>
                <a:latin typeface="Inter"/>
              </a:rPr>
              <a:t>A 30-minute call is enough to see whether the ERP and the banks are a fit. We reply within one business day.</a:t>
            </a:r>
          </a:p>
        </p:txBody>
      </p:sp>
      <p:sp>
        <p:nvSpPr>
          <p:cNvPr id="6" name="TextBox 5"/>
          <p:cNvSpPr txBox="1"/>
          <p:nvPr/>
        </p:nvSpPr>
        <p:spPr>
          <a:xfrm>
            <a:off x="731520" y="5623560"/>
            <a:ext cx="5486400" cy="640080"/>
          </a:xfrm>
          <a:prstGeom prst="rect">
            <a:avLst/>
          </a:prstGeom>
          <a:noFill/>
        </p:spPr>
        <p:txBody>
          <a:bodyPr wrap="square">
            <a:spAutoFit/>
          </a:bodyPr>
          <a:lstStyle/>
          <a:p>
            <a:pPr algn="l">
              <a:lnSpc>
                <a:spcPct val="105000"/>
              </a:lnSpc>
              <a:spcBef>
                <a:spcPts val="0"/>
              </a:spcBef>
              <a:spcAft>
                <a:spcPts val="0"/>
              </a:spcAft>
            </a:pPr>
            <a:r>
              <a:rPr sz="2000" b="0" i="0">
                <a:solidFill>
                  <a:srgbClr val="FFFCF7"/>
                </a:solidFill>
                <a:latin typeface="Inter"/>
              </a:rPr>
              <a:t>info@opencfo.tech</a:t>
            </a:r>
          </a:p>
          <a:p>
            <a:pPr algn="l">
              <a:lnSpc>
                <a:spcPct val="105000"/>
              </a:lnSpc>
              <a:spcBef>
                <a:spcPts val="400"/>
              </a:spcBef>
              <a:spcAft>
                <a:spcPts val="0"/>
              </a:spcAft>
            </a:pPr>
            <a:r>
              <a:rPr sz="1600" b="0" i="0">
                <a:solidFill>
                  <a:srgbClr val="C45C12"/>
                </a:solidFill>
                <a:latin typeface="Inter"/>
              </a:rPr>
              <a:t>opencfo.tech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